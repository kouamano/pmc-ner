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95" r:id="rId2"/>
    <p:sldId id="305" r:id="rId3"/>
    <p:sldId id="307" r:id="rId4"/>
    <p:sldId id="308" r:id="rId5"/>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149"/>
    <p:restoredTop sz="94662"/>
  </p:normalViewPr>
  <p:slideViewPr>
    <p:cSldViewPr snapToGrid="0">
      <p:cViewPr varScale="1">
        <p:scale>
          <a:sx n="152" d="100"/>
          <a:sy n="152" d="100"/>
        </p:scale>
        <p:origin x="216" y="30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E37BE17-0E31-AEE7-99C7-2EEB2A3329C8}"/>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9376F0F5-AFB3-A59F-105A-FE2380C2D0F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39728E5C-CC44-C4EF-167E-13D0D5932669}"/>
              </a:ext>
            </a:extLst>
          </p:cNvPr>
          <p:cNvSpPr>
            <a:spLocks noGrp="1"/>
          </p:cNvSpPr>
          <p:nvPr>
            <p:ph type="dt" sz="half" idx="10"/>
          </p:nvPr>
        </p:nvSpPr>
        <p:spPr/>
        <p:txBody>
          <a:bodyPr/>
          <a:lstStyle/>
          <a:p>
            <a:fld id="{2117668C-D04F-E64E-8587-E295DCCE61F4}" type="datetimeFigureOut">
              <a:t>2026/8/18</a:t>
            </a:fld>
            <a:endParaRPr kumimoji="1" lang="ja-JP" altLang="en-US"/>
          </a:p>
        </p:txBody>
      </p:sp>
      <p:sp>
        <p:nvSpPr>
          <p:cNvPr id="5" name="フッター プレースホルダー 4">
            <a:extLst>
              <a:ext uri="{FF2B5EF4-FFF2-40B4-BE49-F238E27FC236}">
                <a16:creationId xmlns:a16="http://schemas.microsoft.com/office/drawing/2014/main" id="{E9AD0B52-DFEA-A9AE-8831-5F7F0F1FD459}"/>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D26A478D-7128-42E2-AD8D-67C0B631759B}"/>
              </a:ext>
            </a:extLst>
          </p:cNvPr>
          <p:cNvSpPr>
            <a:spLocks noGrp="1"/>
          </p:cNvSpPr>
          <p:nvPr>
            <p:ph type="sldNum" sz="quarter" idx="12"/>
          </p:nvPr>
        </p:nvSpPr>
        <p:spPr/>
        <p:txBody>
          <a:bodyPr/>
          <a:lstStyle/>
          <a:p>
            <a:fld id="{5A5F49D1-25ED-AD41-A9F6-AC964060CCBD}" type="slidenum">
              <a:t>‹#›</a:t>
            </a:fld>
            <a:endParaRPr kumimoji="1" lang="ja-JP" altLang="en-US"/>
          </a:p>
        </p:txBody>
      </p:sp>
    </p:spTree>
    <p:extLst>
      <p:ext uri="{BB962C8B-B14F-4D97-AF65-F5344CB8AC3E}">
        <p14:creationId xmlns:p14="http://schemas.microsoft.com/office/powerpoint/2010/main" val="38312032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637B7EF-83CB-8953-5839-E55AB3AB637A}"/>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6F6D3ECE-A7EC-4270-8AA8-531B6E0493C7}"/>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3F27FEF3-4D1B-C091-3942-635A2F66AC75}"/>
              </a:ext>
            </a:extLst>
          </p:cNvPr>
          <p:cNvSpPr>
            <a:spLocks noGrp="1"/>
          </p:cNvSpPr>
          <p:nvPr>
            <p:ph type="dt" sz="half" idx="10"/>
          </p:nvPr>
        </p:nvSpPr>
        <p:spPr/>
        <p:txBody>
          <a:bodyPr/>
          <a:lstStyle/>
          <a:p>
            <a:fld id="{2117668C-D04F-E64E-8587-E295DCCE61F4}" type="datetimeFigureOut">
              <a:t>2026/8/18</a:t>
            </a:fld>
            <a:endParaRPr kumimoji="1" lang="ja-JP" altLang="en-US"/>
          </a:p>
        </p:txBody>
      </p:sp>
      <p:sp>
        <p:nvSpPr>
          <p:cNvPr id="5" name="フッター プレースホルダー 4">
            <a:extLst>
              <a:ext uri="{FF2B5EF4-FFF2-40B4-BE49-F238E27FC236}">
                <a16:creationId xmlns:a16="http://schemas.microsoft.com/office/drawing/2014/main" id="{D6EFED7E-DAAB-4CCF-9A38-F1A069C248B7}"/>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C4D6F4B8-EAEF-0082-D8EF-B35024C83CF1}"/>
              </a:ext>
            </a:extLst>
          </p:cNvPr>
          <p:cNvSpPr>
            <a:spLocks noGrp="1"/>
          </p:cNvSpPr>
          <p:nvPr>
            <p:ph type="sldNum" sz="quarter" idx="12"/>
          </p:nvPr>
        </p:nvSpPr>
        <p:spPr/>
        <p:txBody>
          <a:bodyPr/>
          <a:lstStyle/>
          <a:p>
            <a:fld id="{5A5F49D1-25ED-AD41-A9F6-AC964060CCBD}" type="slidenum">
              <a:t>‹#›</a:t>
            </a:fld>
            <a:endParaRPr kumimoji="1" lang="ja-JP" altLang="en-US"/>
          </a:p>
        </p:txBody>
      </p:sp>
    </p:spTree>
    <p:extLst>
      <p:ext uri="{BB962C8B-B14F-4D97-AF65-F5344CB8AC3E}">
        <p14:creationId xmlns:p14="http://schemas.microsoft.com/office/powerpoint/2010/main" val="12558065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AED67BE-AC74-C4EC-370C-1BCBC0B66A07}"/>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8FF00900-4051-F2BF-F0D8-9C9AA3FFDF6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C7375D5C-AB7C-D09A-193D-97DFD6C7F128}"/>
              </a:ext>
            </a:extLst>
          </p:cNvPr>
          <p:cNvSpPr>
            <a:spLocks noGrp="1"/>
          </p:cNvSpPr>
          <p:nvPr>
            <p:ph type="dt" sz="half" idx="10"/>
          </p:nvPr>
        </p:nvSpPr>
        <p:spPr/>
        <p:txBody>
          <a:bodyPr/>
          <a:lstStyle/>
          <a:p>
            <a:fld id="{2117668C-D04F-E64E-8587-E295DCCE61F4}" type="datetimeFigureOut">
              <a:t>2026/8/18</a:t>
            </a:fld>
            <a:endParaRPr kumimoji="1" lang="ja-JP" altLang="en-US"/>
          </a:p>
        </p:txBody>
      </p:sp>
      <p:sp>
        <p:nvSpPr>
          <p:cNvPr id="5" name="フッター プレースホルダー 4">
            <a:extLst>
              <a:ext uri="{FF2B5EF4-FFF2-40B4-BE49-F238E27FC236}">
                <a16:creationId xmlns:a16="http://schemas.microsoft.com/office/drawing/2014/main" id="{6323C9F1-0C67-FCD5-AC49-B18368A3C302}"/>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9A724DAE-4550-82EA-2F34-6B0B0B160BE4}"/>
              </a:ext>
            </a:extLst>
          </p:cNvPr>
          <p:cNvSpPr>
            <a:spLocks noGrp="1"/>
          </p:cNvSpPr>
          <p:nvPr>
            <p:ph type="sldNum" sz="quarter" idx="12"/>
          </p:nvPr>
        </p:nvSpPr>
        <p:spPr/>
        <p:txBody>
          <a:bodyPr/>
          <a:lstStyle/>
          <a:p>
            <a:fld id="{5A5F49D1-25ED-AD41-A9F6-AC964060CCBD}" type="slidenum">
              <a:t>‹#›</a:t>
            </a:fld>
            <a:endParaRPr kumimoji="1" lang="ja-JP" altLang="en-US"/>
          </a:p>
        </p:txBody>
      </p:sp>
    </p:spTree>
    <p:extLst>
      <p:ext uri="{BB962C8B-B14F-4D97-AF65-F5344CB8AC3E}">
        <p14:creationId xmlns:p14="http://schemas.microsoft.com/office/powerpoint/2010/main" val="24894133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AE2B5DB-EF6E-0B79-E2CC-E8FEB2388435}"/>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91197D61-3B8F-5B4A-03A6-88BEF89D9B53}"/>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5D6ED742-EEA1-27B0-7BE3-48137FE3D297}"/>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B5E5F052-207F-6F16-0F1C-2E479D7C02DB}"/>
              </a:ext>
            </a:extLst>
          </p:cNvPr>
          <p:cNvSpPr>
            <a:spLocks noGrp="1"/>
          </p:cNvSpPr>
          <p:nvPr>
            <p:ph type="dt" sz="half" idx="10"/>
          </p:nvPr>
        </p:nvSpPr>
        <p:spPr/>
        <p:txBody>
          <a:bodyPr/>
          <a:lstStyle/>
          <a:p>
            <a:fld id="{2117668C-D04F-E64E-8587-E295DCCE61F4}" type="datetimeFigureOut">
              <a:t>2026/8/18</a:t>
            </a:fld>
            <a:endParaRPr kumimoji="1" lang="ja-JP" altLang="en-US"/>
          </a:p>
        </p:txBody>
      </p:sp>
      <p:sp>
        <p:nvSpPr>
          <p:cNvPr id="6" name="フッター プレースホルダー 5">
            <a:extLst>
              <a:ext uri="{FF2B5EF4-FFF2-40B4-BE49-F238E27FC236}">
                <a16:creationId xmlns:a16="http://schemas.microsoft.com/office/drawing/2014/main" id="{1CA16496-CEBB-91E6-3D26-05D307B52697}"/>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CF8D31B5-6C17-8817-70A8-BC07E2A9206A}"/>
              </a:ext>
            </a:extLst>
          </p:cNvPr>
          <p:cNvSpPr>
            <a:spLocks noGrp="1"/>
          </p:cNvSpPr>
          <p:nvPr>
            <p:ph type="sldNum" sz="quarter" idx="12"/>
          </p:nvPr>
        </p:nvSpPr>
        <p:spPr/>
        <p:txBody>
          <a:bodyPr/>
          <a:lstStyle/>
          <a:p>
            <a:fld id="{5A5F49D1-25ED-AD41-A9F6-AC964060CCBD}" type="slidenum">
              <a:t>‹#›</a:t>
            </a:fld>
            <a:endParaRPr kumimoji="1" lang="ja-JP" altLang="en-US"/>
          </a:p>
        </p:txBody>
      </p:sp>
    </p:spTree>
    <p:extLst>
      <p:ext uri="{BB962C8B-B14F-4D97-AF65-F5344CB8AC3E}">
        <p14:creationId xmlns:p14="http://schemas.microsoft.com/office/powerpoint/2010/main" val="28157714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35DB867-80D5-B694-CE87-78D6790ED106}"/>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2214E33B-4E5D-1AE3-EC58-3E719B24998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9DAE3731-070D-F6CC-C575-F59910DC53C5}"/>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8D20A566-DF3D-2F9F-E4B4-47C0EB7B7FD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37D182D4-6684-0B1A-ECB4-EF720A384ECD}"/>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3AEA2EBB-E67B-6F55-29DA-48CEB45DF109}"/>
              </a:ext>
            </a:extLst>
          </p:cNvPr>
          <p:cNvSpPr>
            <a:spLocks noGrp="1"/>
          </p:cNvSpPr>
          <p:nvPr>
            <p:ph type="dt" sz="half" idx="10"/>
          </p:nvPr>
        </p:nvSpPr>
        <p:spPr/>
        <p:txBody>
          <a:bodyPr/>
          <a:lstStyle/>
          <a:p>
            <a:fld id="{2117668C-D04F-E64E-8587-E295DCCE61F4}" type="datetimeFigureOut">
              <a:t>2026/8/18</a:t>
            </a:fld>
            <a:endParaRPr kumimoji="1" lang="ja-JP" altLang="en-US"/>
          </a:p>
        </p:txBody>
      </p:sp>
      <p:sp>
        <p:nvSpPr>
          <p:cNvPr id="8" name="フッター プレースホルダー 7">
            <a:extLst>
              <a:ext uri="{FF2B5EF4-FFF2-40B4-BE49-F238E27FC236}">
                <a16:creationId xmlns:a16="http://schemas.microsoft.com/office/drawing/2014/main" id="{A07D5596-A8D6-04E6-EA97-EB377EACE6E8}"/>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DA74B0BE-9AB7-CB01-A77A-817E2CCD3D23}"/>
              </a:ext>
            </a:extLst>
          </p:cNvPr>
          <p:cNvSpPr>
            <a:spLocks noGrp="1"/>
          </p:cNvSpPr>
          <p:nvPr>
            <p:ph type="sldNum" sz="quarter" idx="12"/>
          </p:nvPr>
        </p:nvSpPr>
        <p:spPr/>
        <p:txBody>
          <a:bodyPr/>
          <a:lstStyle/>
          <a:p>
            <a:fld id="{5A5F49D1-25ED-AD41-A9F6-AC964060CCBD}" type="slidenum">
              <a:t>‹#›</a:t>
            </a:fld>
            <a:endParaRPr kumimoji="1" lang="ja-JP" altLang="en-US"/>
          </a:p>
        </p:txBody>
      </p:sp>
    </p:spTree>
    <p:extLst>
      <p:ext uri="{BB962C8B-B14F-4D97-AF65-F5344CB8AC3E}">
        <p14:creationId xmlns:p14="http://schemas.microsoft.com/office/powerpoint/2010/main" val="21285603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7D67964-57FE-9AE5-6EB7-F2834011DD51}"/>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B8812C87-9FAD-0BED-18F3-7AC366BFF8A9}"/>
              </a:ext>
            </a:extLst>
          </p:cNvPr>
          <p:cNvSpPr>
            <a:spLocks noGrp="1"/>
          </p:cNvSpPr>
          <p:nvPr>
            <p:ph type="dt" sz="half" idx="10"/>
          </p:nvPr>
        </p:nvSpPr>
        <p:spPr/>
        <p:txBody>
          <a:bodyPr/>
          <a:lstStyle/>
          <a:p>
            <a:fld id="{2117668C-D04F-E64E-8587-E295DCCE61F4}" type="datetimeFigureOut">
              <a:t>2026/8/18</a:t>
            </a:fld>
            <a:endParaRPr kumimoji="1" lang="ja-JP" altLang="en-US"/>
          </a:p>
        </p:txBody>
      </p:sp>
      <p:sp>
        <p:nvSpPr>
          <p:cNvPr id="4" name="フッター プレースホルダー 3">
            <a:extLst>
              <a:ext uri="{FF2B5EF4-FFF2-40B4-BE49-F238E27FC236}">
                <a16:creationId xmlns:a16="http://schemas.microsoft.com/office/drawing/2014/main" id="{19C6EC5A-4ABB-6A39-0D4A-B5F189CE2F96}"/>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06A112D0-7B2A-16D9-3142-70146B9C85AB}"/>
              </a:ext>
            </a:extLst>
          </p:cNvPr>
          <p:cNvSpPr>
            <a:spLocks noGrp="1"/>
          </p:cNvSpPr>
          <p:nvPr>
            <p:ph type="sldNum" sz="quarter" idx="12"/>
          </p:nvPr>
        </p:nvSpPr>
        <p:spPr/>
        <p:txBody>
          <a:bodyPr/>
          <a:lstStyle/>
          <a:p>
            <a:fld id="{5A5F49D1-25ED-AD41-A9F6-AC964060CCBD}" type="slidenum">
              <a:t>‹#›</a:t>
            </a:fld>
            <a:endParaRPr kumimoji="1" lang="ja-JP" altLang="en-US"/>
          </a:p>
        </p:txBody>
      </p:sp>
    </p:spTree>
    <p:extLst>
      <p:ext uri="{BB962C8B-B14F-4D97-AF65-F5344CB8AC3E}">
        <p14:creationId xmlns:p14="http://schemas.microsoft.com/office/powerpoint/2010/main" val="29296258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707454CA-CEAC-1211-5E7C-A9B8AB8BCA7E}"/>
              </a:ext>
            </a:extLst>
          </p:cNvPr>
          <p:cNvSpPr>
            <a:spLocks noGrp="1"/>
          </p:cNvSpPr>
          <p:nvPr>
            <p:ph type="dt" sz="half" idx="10"/>
          </p:nvPr>
        </p:nvSpPr>
        <p:spPr/>
        <p:txBody>
          <a:bodyPr/>
          <a:lstStyle/>
          <a:p>
            <a:fld id="{2117668C-D04F-E64E-8587-E295DCCE61F4}" type="datetimeFigureOut">
              <a:t>2026/8/18</a:t>
            </a:fld>
            <a:endParaRPr kumimoji="1" lang="ja-JP" altLang="en-US"/>
          </a:p>
        </p:txBody>
      </p:sp>
      <p:sp>
        <p:nvSpPr>
          <p:cNvPr id="3" name="フッター プレースホルダー 2">
            <a:extLst>
              <a:ext uri="{FF2B5EF4-FFF2-40B4-BE49-F238E27FC236}">
                <a16:creationId xmlns:a16="http://schemas.microsoft.com/office/drawing/2014/main" id="{C30619B5-4F01-A37D-C8C8-66513C32C081}"/>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B817136B-469C-B73D-6ED0-15B8A37F495E}"/>
              </a:ext>
            </a:extLst>
          </p:cNvPr>
          <p:cNvSpPr>
            <a:spLocks noGrp="1"/>
          </p:cNvSpPr>
          <p:nvPr>
            <p:ph type="sldNum" sz="quarter" idx="12"/>
          </p:nvPr>
        </p:nvSpPr>
        <p:spPr/>
        <p:txBody>
          <a:bodyPr/>
          <a:lstStyle/>
          <a:p>
            <a:fld id="{5A5F49D1-25ED-AD41-A9F6-AC964060CCBD}" type="slidenum">
              <a:t>‹#›</a:t>
            </a:fld>
            <a:endParaRPr kumimoji="1" lang="ja-JP" altLang="en-US"/>
          </a:p>
        </p:txBody>
      </p:sp>
    </p:spTree>
    <p:extLst>
      <p:ext uri="{BB962C8B-B14F-4D97-AF65-F5344CB8AC3E}">
        <p14:creationId xmlns:p14="http://schemas.microsoft.com/office/powerpoint/2010/main" val="37846249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A4F2DC7-68A3-1CC7-6E67-95D69337A839}"/>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E4A1C2CF-DDEC-85A7-D62F-FAA9FE7B55D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5F330216-29D4-5551-F9B1-B10F7E9EB78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7E0847FB-C827-0FCB-DA04-F78693A91042}"/>
              </a:ext>
            </a:extLst>
          </p:cNvPr>
          <p:cNvSpPr>
            <a:spLocks noGrp="1"/>
          </p:cNvSpPr>
          <p:nvPr>
            <p:ph type="dt" sz="half" idx="10"/>
          </p:nvPr>
        </p:nvSpPr>
        <p:spPr/>
        <p:txBody>
          <a:bodyPr/>
          <a:lstStyle/>
          <a:p>
            <a:fld id="{2117668C-D04F-E64E-8587-E295DCCE61F4}" type="datetimeFigureOut">
              <a:t>2026/8/18</a:t>
            </a:fld>
            <a:endParaRPr kumimoji="1" lang="ja-JP" altLang="en-US"/>
          </a:p>
        </p:txBody>
      </p:sp>
      <p:sp>
        <p:nvSpPr>
          <p:cNvPr id="6" name="フッター プレースホルダー 5">
            <a:extLst>
              <a:ext uri="{FF2B5EF4-FFF2-40B4-BE49-F238E27FC236}">
                <a16:creationId xmlns:a16="http://schemas.microsoft.com/office/drawing/2014/main" id="{7AC58FB3-E8C2-0DE0-1FEA-386965546CAD}"/>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C8607C3D-88BF-BCAE-F10A-02A3130EE95B}"/>
              </a:ext>
            </a:extLst>
          </p:cNvPr>
          <p:cNvSpPr>
            <a:spLocks noGrp="1"/>
          </p:cNvSpPr>
          <p:nvPr>
            <p:ph type="sldNum" sz="quarter" idx="12"/>
          </p:nvPr>
        </p:nvSpPr>
        <p:spPr/>
        <p:txBody>
          <a:bodyPr/>
          <a:lstStyle/>
          <a:p>
            <a:fld id="{5A5F49D1-25ED-AD41-A9F6-AC964060CCBD}" type="slidenum">
              <a:t>‹#›</a:t>
            </a:fld>
            <a:endParaRPr kumimoji="1" lang="ja-JP" altLang="en-US"/>
          </a:p>
        </p:txBody>
      </p:sp>
    </p:spTree>
    <p:extLst>
      <p:ext uri="{BB962C8B-B14F-4D97-AF65-F5344CB8AC3E}">
        <p14:creationId xmlns:p14="http://schemas.microsoft.com/office/powerpoint/2010/main" val="41657971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6D559F9-FAFA-CA50-8FA9-71D938728F94}"/>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0AE063B6-F37F-B664-D909-E4A2F1E3444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68167414-2FE4-DC1F-411E-18DD360CB81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A4365FE4-B46C-F830-840D-31E86C583077}"/>
              </a:ext>
            </a:extLst>
          </p:cNvPr>
          <p:cNvSpPr>
            <a:spLocks noGrp="1"/>
          </p:cNvSpPr>
          <p:nvPr>
            <p:ph type="dt" sz="half" idx="10"/>
          </p:nvPr>
        </p:nvSpPr>
        <p:spPr/>
        <p:txBody>
          <a:bodyPr/>
          <a:lstStyle/>
          <a:p>
            <a:fld id="{2117668C-D04F-E64E-8587-E295DCCE61F4}" type="datetimeFigureOut">
              <a:t>2026/8/18</a:t>
            </a:fld>
            <a:endParaRPr kumimoji="1" lang="ja-JP" altLang="en-US"/>
          </a:p>
        </p:txBody>
      </p:sp>
      <p:sp>
        <p:nvSpPr>
          <p:cNvPr id="6" name="フッター プレースホルダー 5">
            <a:extLst>
              <a:ext uri="{FF2B5EF4-FFF2-40B4-BE49-F238E27FC236}">
                <a16:creationId xmlns:a16="http://schemas.microsoft.com/office/drawing/2014/main" id="{5821D48F-73B1-752C-6616-A945C46D23F1}"/>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B6F8345C-DF6B-6539-AA68-2D48E2A5BE4D}"/>
              </a:ext>
            </a:extLst>
          </p:cNvPr>
          <p:cNvSpPr>
            <a:spLocks noGrp="1"/>
          </p:cNvSpPr>
          <p:nvPr>
            <p:ph type="sldNum" sz="quarter" idx="12"/>
          </p:nvPr>
        </p:nvSpPr>
        <p:spPr/>
        <p:txBody>
          <a:bodyPr/>
          <a:lstStyle/>
          <a:p>
            <a:fld id="{5A5F49D1-25ED-AD41-A9F6-AC964060CCBD}" type="slidenum">
              <a:t>‹#›</a:t>
            </a:fld>
            <a:endParaRPr kumimoji="1" lang="ja-JP" altLang="en-US"/>
          </a:p>
        </p:txBody>
      </p:sp>
    </p:spTree>
    <p:extLst>
      <p:ext uri="{BB962C8B-B14F-4D97-AF65-F5344CB8AC3E}">
        <p14:creationId xmlns:p14="http://schemas.microsoft.com/office/powerpoint/2010/main" val="16622273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8840402-9A7C-7160-076A-024FDFAD1A24}"/>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548AF5AD-3EDD-D94F-EF8D-80B2EB17589D}"/>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D794E572-C122-9EE9-C8C5-B1B831B16EFF}"/>
              </a:ext>
            </a:extLst>
          </p:cNvPr>
          <p:cNvSpPr>
            <a:spLocks noGrp="1"/>
          </p:cNvSpPr>
          <p:nvPr>
            <p:ph type="dt" sz="half" idx="10"/>
          </p:nvPr>
        </p:nvSpPr>
        <p:spPr/>
        <p:txBody>
          <a:bodyPr/>
          <a:lstStyle/>
          <a:p>
            <a:fld id="{2117668C-D04F-E64E-8587-E295DCCE61F4}" type="datetimeFigureOut">
              <a:t>2026/8/18</a:t>
            </a:fld>
            <a:endParaRPr kumimoji="1" lang="ja-JP" altLang="en-US"/>
          </a:p>
        </p:txBody>
      </p:sp>
      <p:sp>
        <p:nvSpPr>
          <p:cNvPr id="5" name="フッター プレースホルダー 4">
            <a:extLst>
              <a:ext uri="{FF2B5EF4-FFF2-40B4-BE49-F238E27FC236}">
                <a16:creationId xmlns:a16="http://schemas.microsoft.com/office/drawing/2014/main" id="{EB66511A-BE08-3B71-14C8-ED0D1E890F6F}"/>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AFB67257-B78D-75F4-071C-C323403947BE}"/>
              </a:ext>
            </a:extLst>
          </p:cNvPr>
          <p:cNvSpPr>
            <a:spLocks noGrp="1"/>
          </p:cNvSpPr>
          <p:nvPr>
            <p:ph type="sldNum" sz="quarter" idx="12"/>
          </p:nvPr>
        </p:nvSpPr>
        <p:spPr/>
        <p:txBody>
          <a:bodyPr/>
          <a:lstStyle/>
          <a:p>
            <a:fld id="{5A5F49D1-25ED-AD41-A9F6-AC964060CCBD}" type="slidenum">
              <a:t>‹#›</a:t>
            </a:fld>
            <a:endParaRPr kumimoji="1" lang="ja-JP" altLang="en-US"/>
          </a:p>
        </p:txBody>
      </p:sp>
    </p:spTree>
    <p:extLst>
      <p:ext uri="{BB962C8B-B14F-4D97-AF65-F5344CB8AC3E}">
        <p14:creationId xmlns:p14="http://schemas.microsoft.com/office/powerpoint/2010/main" val="35696406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BBF36811-62F7-3B16-2F9F-4E1E75621B33}"/>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114FCF2B-735E-1689-1908-B0867536DD70}"/>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E3A1E231-5F81-5CB6-4CDA-9AE8CF79290F}"/>
              </a:ext>
            </a:extLst>
          </p:cNvPr>
          <p:cNvSpPr>
            <a:spLocks noGrp="1"/>
          </p:cNvSpPr>
          <p:nvPr>
            <p:ph type="dt" sz="half" idx="10"/>
          </p:nvPr>
        </p:nvSpPr>
        <p:spPr/>
        <p:txBody>
          <a:bodyPr/>
          <a:lstStyle/>
          <a:p>
            <a:fld id="{2117668C-D04F-E64E-8587-E295DCCE61F4}" type="datetimeFigureOut">
              <a:t>2026/8/18</a:t>
            </a:fld>
            <a:endParaRPr kumimoji="1" lang="ja-JP" altLang="en-US"/>
          </a:p>
        </p:txBody>
      </p:sp>
      <p:sp>
        <p:nvSpPr>
          <p:cNvPr id="5" name="フッター プレースホルダー 4">
            <a:extLst>
              <a:ext uri="{FF2B5EF4-FFF2-40B4-BE49-F238E27FC236}">
                <a16:creationId xmlns:a16="http://schemas.microsoft.com/office/drawing/2014/main" id="{9B75A00F-7B53-2F7A-006B-7B13577EEB66}"/>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F7DCB86A-E3AE-0371-73DA-09906B79CD18}"/>
              </a:ext>
            </a:extLst>
          </p:cNvPr>
          <p:cNvSpPr>
            <a:spLocks noGrp="1"/>
          </p:cNvSpPr>
          <p:nvPr>
            <p:ph type="sldNum" sz="quarter" idx="12"/>
          </p:nvPr>
        </p:nvSpPr>
        <p:spPr/>
        <p:txBody>
          <a:bodyPr/>
          <a:lstStyle/>
          <a:p>
            <a:fld id="{5A5F49D1-25ED-AD41-A9F6-AC964060CCBD}" type="slidenum">
              <a:t>‹#›</a:t>
            </a:fld>
            <a:endParaRPr kumimoji="1" lang="ja-JP" altLang="en-US"/>
          </a:p>
        </p:txBody>
      </p:sp>
    </p:spTree>
    <p:extLst>
      <p:ext uri="{BB962C8B-B14F-4D97-AF65-F5344CB8AC3E}">
        <p14:creationId xmlns:p14="http://schemas.microsoft.com/office/powerpoint/2010/main" val="18181590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83958890-27BA-383B-0718-9F48325E3B8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788D51DB-B43D-F10E-A9BF-B9D11389028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6F33B03B-2966-8341-C03D-9F9B7527A7D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117668C-D04F-E64E-8587-E295DCCE61F4}" type="datetimeFigureOut">
              <a:t>2026/8/18</a:t>
            </a:fld>
            <a:endParaRPr kumimoji="1" lang="ja-JP" altLang="en-US"/>
          </a:p>
        </p:txBody>
      </p:sp>
      <p:sp>
        <p:nvSpPr>
          <p:cNvPr id="5" name="フッター プレースホルダー 4">
            <a:extLst>
              <a:ext uri="{FF2B5EF4-FFF2-40B4-BE49-F238E27FC236}">
                <a16:creationId xmlns:a16="http://schemas.microsoft.com/office/drawing/2014/main" id="{01CE35B9-DD56-22C4-4C07-27F6AF82AC0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1028027C-DE28-B224-DDDF-8505BFF0E6E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A5F49D1-25ED-AD41-A9F6-AC964060CCBD}" type="slidenum">
              <a:t>‹#›</a:t>
            </a:fld>
            <a:endParaRPr kumimoji="1" lang="ja-JP" altLang="en-US"/>
          </a:p>
        </p:txBody>
      </p:sp>
    </p:spTree>
    <p:extLst>
      <p:ext uri="{BB962C8B-B14F-4D97-AF65-F5344CB8AC3E}">
        <p14:creationId xmlns:p14="http://schemas.microsoft.com/office/powerpoint/2010/main" val="160171195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gif"/><Relationship Id="rId1" Type="http://schemas.openxmlformats.org/officeDocument/2006/relationships/slideLayout" Target="../slideLayouts/slideLayout2.xml"/><Relationship Id="rId4" Type="http://schemas.openxmlformats.org/officeDocument/2006/relationships/image" Target="../media/image4.gif"/></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111858-CAD4-9084-4BCF-7ED1E50CA3B0}"/>
            </a:ext>
          </a:extLst>
        </p:cNvPr>
        <p:cNvGrpSpPr/>
        <p:nvPr/>
      </p:nvGrpSpPr>
      <p:grpSpPr>
        <a:xfrm>
          <a:off x="0" y="0"/>
          <a:ext cx="0" cy="0"/>
          <a:chOff x="0" y="0"/>
          <a:chExt cx="0" cy="0"/>
        </a:xfrm>
      </p:grpSpPr>
      <p:pic>
        <p:nvPicPr>
          <p:cNvPr id="6" name="図 5" descr="ダイアグラム&#10;&#10;AI 生成コンテンツは誤りを含む可能性があります。">
            <a:extLst>
              <a:ext uri="{FF2B5EF4-FFF2-40B4-BE49-F238E27FC236}">
                <a16:creationId xmlns:a16="http://schemas.microsoft.com/office/drawing/2014/main" id="{60E6C934-134F-30CA-86C8-7B23ACCC4027}"/>
              </a:ext>
            </a:extLst>
          </p:cNvPr>
          <p:cNvPicPr>
            <a:picLocks noChangeAspect="1"/>
          </p:cNvPicPr>
          <p:nvPr/>
        </p:nvPicPr>
        <p:blipFill>
          <a:blip r:embed="rId2"/>
          <a:stretch>
            <a:fillRect/>
          </a:stretch>
        </p:blipFill>
        <p:spPr>
          <a:xfrm>
            <a:off x="245577" y="1677325"/>
            <a:ext cx="7772400" cy="3986805"/>
          </a:xfrm>
          <a:prstGeom prst="rect">
            <a:avLst/>
          </a:prstGeom>
        </p:spPr>
      </p:pic>
      <p:sp>
        <p:nvSpPr>
          <p:cNvPr id="2" name="タイトル 1">
            <a:extLst>
              <a:ext uri="{FF2B5EF4-FFF2-40B4-BE49-F238E27FC236}">
                <a16:creationId xmlns:a16="http://schemas.microsoft.com/office/drawing/2014/main" id="{5B2B4F6E-418F-9A3F-9846-57AC45E160C3}"/>
              </a:ext>
            </a:extLst>
          </p:cNvPr>
          <p:cNvSpPr>
            <a:spLocks noGrp="1"/>
          </p:cNvSpPr>
          <p:nvPr>
            <p:ph type="title"/>
          </p:nvPr>
        </p:nvSpPr>
        <p:spPr>
          <a:xfrm>
            <a:off x="0" y="1"/>
            <a:ext cx="12192000" cy="577516"/>
          </a:xfrm>
          <a:solidFill>
            <a:schemeClr val="bg1">
              <a:lumMod val="85000"/>
            </a:schemeClr>
          </a:solidFill>
        </p:spPr>
        <p:txBody>
          <a:bodyPr>
            <a:normAutofit fontScale="90000"/>
          </a:bodyPr>
          <a:lstStyle/>
          <a:p>
            <a:r>
              <a:rPr kumimoji="1" lang="ja-JP" altLang="en-US" sz="3600"/>
              <a:t>研究リソーストラッキング</a:t>
            </a:r>
            <a:r>
              <a:rPr lang="ja-JP" altLang="en-US" sz="3600"/>
              <a:t>システム</a:t>
            </a:r>
            <a:r>
              <a:rPr lang="en-US" altLang="ja-JP" sz="3600"/>
              <a:t>(1/4)</a:t>
            </a:r>
            <a:endParaRPr kumimoji="1" lang="ja-JP" altLang="en-US" sz="3600"/>
          </a:p>
        </p:txBody>
      </p:sp>
      <p:sp>
        <p:nvSpPr>
          <p:cNvPr id="7" name="正方形/長方形 6">
            <a:extLst>
              <a:ext uri="{FF2B5EF4-FFF2-40B4-BE49-F238E27FC236}">
                <a16:creationId xmlns:a16="http://schemas.microsoft.com/office/drawing/2014/main" id="{97406A0D-F511-EDF5-964C-FBED7D79FC6F}"/>
              </a:ext>
            </a:extLst>
          </p:cNvPr>
          <p:cNvSpPr/>
          <p:nvPr/>
        </p:nvSpPr>
        <p:spPr>
          <a:xfrm>
            <a:off x="4901607" y="5007940"/>
            <a:ext cx="861238" cy="393405"/>
          </a:xfrm>
          <a:prstGeom prst="rect">
            <a:avLst/>
          </a:prstGeom>
          <a:noFill/>
          <a:ln w="444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A586A50C-2B3A-B987-CF6A-D2501C564886}"/>
              </a:ext>
            </a:extLst>
          </p:cNvPr>
          <p:cNvSpPr txBox="1"/>
          <p:nvPr/>
        </p:nvSpPr>
        <p:spPr>
          <a:xfrm>
            <a:off x="8570611" y="3469752"/>
            <a:ext cx="3221666" cy="1815882"/>
          </a:xfrm>
          <a:prstGeom prst="rect">
            <a:avLst/>
          </a:prstGeom>
          <a:noFill/>
          <a:ln>
            <a:solidFill>
              <a:schemeClr val="accent2"/>
            </a:solidFill>
          </a:ln>
        </p:spPr>
        <p:txBody>
          <a:bodyPr wrap="square" rtlCol="0">
            <a:spAutoFit/>
          </a:bodyPr>
          <a:lstStyle/>
          <a:p>
            <a:pPr marL="285750" indent="-285750">
              <a:buFont typeface="Arial" panose="020B0604020202020204" pitchFamily="34" charset="0"/>
              <a:buChar char="•"/>
            </a:pPr>
            <a:r>
              <a:rPr kumimoji="1" lang="ja-JP" altLang="en-US" sz="1400"/>
              <a:t>論文であれば引用分析が可能</a:t>
            </a:r>
            <a:endParaRPr kumimoji="1" lang="en-US" altLang="ja-JP" sz="1400" dirty="0"/>
          </a:p>
          <a:p>
            <a:pPr marL="285750" indent="-285750">
              <a:buFont typeface="Arial" panose="020B0604020202020204" pitchFamily="34" charset="0"/>
              <a:buChar char="•"/>
            </a:pPr>
            <a:r>
              <a:rPr lang="ja-JP" altLang="en-US" sz="1400"/>
              <a:t>データも同様の評価が可能になりつつある</a:t>
            </a:r>
            <a:endParaRPr lang="en-US" altLang="ja-JP" sz="1400" dirty="0"/>
          </a:p>
          <a:p>
            <a:pPr marL="285750" indent="-285750">
              <a:buFont typeface="Arial" panose="020B0604020202020204" pitchFamily="34" charset="0"/>
              <a:buChar char="•"/>
            </a:pPr>
            <a:r>
              <a:rPr kumimoji="1" lang="ja-JP" altLang="en-US" sz="1400"/>
              <a:t>しかし、ラボで生成されたリソース、ファシリティ等の影響は上記のような枠組みに未だ載らないので別のトラッキングシステム</a:t>
            </a:r>
            <a:r>
              <a:rPr lang="ja-JP" altLang="en-US" sz="1400"/>
              <a:t>を作る必要がある</a:t>
            </a:r>
            <a:endParaRPr kumimoji="1" lang="ja-JP" altLang="en-US" sz="1400"/>
          </a:p>
        </p:txBody>
      </p:sp>
      <p:cxnSp>
        <p:nvCxnSpPr>
          <p:cNvPr id="10" name="直線矢印コネクタ 9">
            <a:extLst>
              <a:ext uri="{FF2B5EF4-FFF2-40B4-BE49-F238E27FC236}">
                <a16:creationId xmlns:a16="http://schemas.microsoft.com/office/drawing/2014/main" id="{C6363B21-6417-F443-DA1A-51E257CC28A5}"/>
              </a:ext>
            </a:extLst>
          </p:cNvPr>
          <p:cNvCxnSpPr>
            <a:stCxn id="8" idx="1"/>
            <a:endCxn id="7" idx="3"/>
          </p:cNvCxnSpPr>
          <p:nvPr/>
        </p:nvCxnSpPr>
        <p:spPr>
          <a:xfrm flipH="1">
            <a:off x="5762845" y="4377693"/>
            <a:ext cx="2807766" cy="826950"/>
          </a:xfrm>
          <a:prstGeom prst="straightConnector1">
            <a:avLst/>
          </a:prstGeom>
          <a:ln w="9525">
            <a:solidFill>
              <a:schemeClr val="accent2"/>
            </a:solidFill>
            <a:tailEnd type="triangle"/>
          </a:ln>
        </p:spPr>
        <p:style>
          <a:lnRef idx="2">
            <a:schemeClr val="accent1"/>
          </a:lnRef>
          <a:fillRef idx="0">
            <a:schemeClr val="accent1"/>
          </a:fillRef>
          <a:effectRef idx="1">
            <a:schemeClr val="accent1"/>
          </a:effectRef>
          <a:fontRef idx="minor">
            <a:schemeClr val="tx1"/>
          </a:fontRef>
        </p:style>
      </p:cxnSp>
      <p:sp>
        <p:nvSpPr>
          <p:cNvPr id="11" name="テキスト ボックス 10">
            <a:extLst>
              <a:ext uri="{FF2B5EF4-FFF2-40B4-BE49-F238E27FC236}">
                <a16:creationId xmlns:a16="http://schemas.microsoft.com/office/drawing/2014/main" id="{12B7D513-C2CC-0CA0-1AFF-0758EA951F21}"/>
              </a:ext>
            </a:extLst>
          </p:cNvPr>
          <p:cNvSpPr txBox="1"/>
          <p:nvPr/>
        </p:nvSpPr>
        <p:spPr>
          <a:xfrm>
            <a:off x="0" y="572141"/>
            <a:ext cx="10902344" cy="646331"/>
          </a:xfrm>
          <a:prstGeom prst="rect">
            <a:avLst/>
          </a:prstGeom>
          <a:noFill/>
        </p:spPr>
        <p:txBody>
          <a:bodyPr wrap="none" rtlCol="0">
            <a:spAutoFit/>
          </a:bodyPr>
          <a:lstStyle/>
          <a:p>
            <a:r>
              <a:rPr lang="ja-JP" altLang="en-US" b="1"/>
              <a:t>◾️</a:t>
            </a:r>
            <a:r>
              <a:rPr kumimoji="1" lang="ja-JP" altLang="en-US" b="1"/>
              <a:t>位置付け</a:t>
            </a:r>
            <a:endParaRPr kumimoji="1" lang="en-US" altLang="ja-JP" b="1" dirty="0"/>
          </a:p>
          <a:p>
            <a:r>
              <a:rPr kumimoji="1" lang="en-US" altLang="ja-JP" dirty="0"/>
              <a:t>“</a:t>
            </a:r>
            <a:r>
              <a:rPr kumimoji="1" lang="ja-JP" altLang="en-US"/>
              <a:t>オープンサイエンス</a:t>
            </a:r>
            <a:r>
              <a:rPr kumimoji="1" lang="en-US" altLang="ja-JP" dirty="0"/>
              <a:t>”</a:t>
            </a:r>
            <a:r>
              <a:rPr kumimoji="1" lang="ja-JP" altLang="en-US"/>
              <a:t>の名の下にオープン・クローズコントロールのための評価が行える仕組みを作る</a:t>
            </a:r>
          </a:p>
        </p:txBody>
      </p:sp>
      <p:sp>
        <p:nvSpPr>
          <p:cNvPr id="13" name="円/楕円 12">
            <a:extLst>
              <a:ext uri="{FF2B5EF4-FFF2-40B4-BE49-F238E27FC236}">
                <a16:creationId xmlns:a16="http://schemas.microsoft.com/office/drawing/2014/main" id="{ED4F9E1E-47D4-4848-2AA9-F746EF41A5B3}"/>
              </a:ext>
            </a:extLst>
          </p:cNvPr>
          <p:cNvSpPr/>
          <p:nvPr/>
        </p:nvSpPr>
        <p:spPr>
          <a:xfrm>
            <a:off x="5034770" y="2316044"/>
            <a:ext cx="594911" cy="2586461"/>
          </a:xfrm>
          <a:prstGeom prst="ellipse">
            <a:avLst/>
          </a:prstGeom>
          <a:noFill/>
          <a:ln w="444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テキスト ボックス 13">
            <a:extLst>
              <a:ext uri="{FF2B5EF4-FFF2-40B4-BE49-F238E27FC236}">
                <a16:creationId xmlns:a16="http://schemas.microsoft.com/office/drawing/2014/main" id="{20C63A71-73FD-7C44-17BA-6A5AD6C163DE}"/>
              </a:ext>
            </a:extLst>
          </p:cNvPr>
          <p:cNvSpPr txBox="1"/>
          <p:nvPr/>
        </p:nvSpPr>
        <p:spPr>
          <a:xfrm>
            <a:off x="8570611" y="2190820"/>
            <a:ext cx="3221666" cy="523220"/>
          </a:xfrm>
          <a:prstGeom prst="rect">
            <a:avLst/>
          </a:prstGeom>
          <a:noFill/>
          <a:ln>
            <a:solidFill>
              <a:schemeClr val="accent2"/>
            </a:solidFill>
          </a:ln>
        </p:spPr>
        <p:txBody>
          <a:bodyPr wrap="square" rtlCol="0">
            <a:spAutoFit/>
          </a:bodyPr>
          <a:lstStyle/>
          <a:p>
            <a:pPr marL="285750" indent="-285750">
              <a:buFont typeface="Arial" panose="020B0604020202020204" pitchFamily="34" charset="0"/>
              <a:buChar char="•"/>
            </a:pPr>
            <a:r>
              <a:rPr lang="ja-JP" altLang="en-US" sz="1400"/>
              <a:t>科学的貢献は論文・データだけではない</a:t>
            </a:r>
            <a:endParaRPr kumimoji="1" lang="en-US" altLang="ja-JP" sz="1400" dirty="0"/>
          </a:p>
        </p:txBody>
      </p:sp>
      <p:cxnSp>
        <p:nvCxnSpPr>
          <p:cNvPr id="15" name="直線矢印コネクタ 14">
            <a:extLst>
              <a:ext uri="{FF2B5EF4-FFF2-40B4-BE49-F238E27FC236}">
                <a16:creationId xmlns:a16="http://schemas.microsoft.com/office/drawing/2014/main" id="{0A13ADE8-381F-9A30-E329-5B7F27C8BAD6}"/>
              </a:ext>
            </a:extLst>
          </p:cNvPr>
          <p:cNvCxnSpPr>
            <a:cxnSpLocks/>
            <a:stCxn id="14" idx="1"/>
            <a:endCxn id="13" idx="6"/>
          </p:cNvCxnSpPr>
          <p:nvPr/>
        </p:nvCxnSpPr>
        <p:spPr>
          <a:xfrm flipH="1">
            <a:off x="5629681" y="2452430"/>
            <a:ext cx="2940930" cy="1156845"/>
          </a:xfrm>
          <a:prstGeom prst="straightConnector1">
            <a:avLst/>
          </a:prstGeom>
          <a:ln w="9525">
            <a:solidFill>
              <a:schemeClr val="accent2"/>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91465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61FFF3-9416-E89A-CDA5-E732806D35D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6B932FD-5B82-5411-E82E-0B2433ED733A}"/>
              </a:ext>
            </a:extLst>
          </p:cNvPr>
          <p:cNvSpPr>
            <a:spLocks noGrp="1"/>
          </p:cNvSpPr>
          <p:nvPr>
            <p:ph type="title"/>
          </p:nvPr>
        </p:nvSpPr>
        <p:spPr>
          <a:xfrm>
            <a:off x="0" y="1"/>
            <a:ext cx="12192000" cy="577516"/>
          </a:xfrm>
          <a:solidFill>
            <a:schemeClr val="bg1">
              <a:lumMod val="85000"/>
            </a:schemeClr>
          </a:solidFill>
        </p:spPr>
        <p:txBody>
          <a:bodyPr>
            <a:normAutofit fontScale="90000"/>
          </a:bodyPr>
          <a:lstStyle/>
          <a:p>
            <a:r>
              <a:rPr kumimoji="1" lang="ja-JP" altLang="en-US" sz="3600"/>
              <a:t>研究リソーストラッキングシステム（</a:t>
            </a:r>
            <a:r>
              <a:rPr lang="en-US" altLang="ja-JP" sz="3600"/>
              <a:t>2026</a:t>
            </a:r>
            <a:r>
              <a:rPr lang="ja-JP" altLang="en-US" sz="3600"/>
              <a:t>年度開発</a:t>
            </a:r>
            <a:r>
              <a:rPr kumimoji="1" lang="ja-JP" altLang="en-US" sz="3600"/>
              <a:t>）</a:t>
            </a:r>
            <a:r>
              <a:rPr kumimoji="1" lang="en-US" altLang="ja-JP" sz="3600"/>
              <a:t>(2/4)</a:t>
            </a:r>
            <a:endParaRPr kumimoji="1" lang="ja-JP" altLang="en-US" sz="3600"/>
          </a:p>
        </p:txBody>
      </p:sp>
      <p:sp>
        <p:nvSpPr>
          <p:cNvPr id="5" name="テキスト ボックス 4">
            <a:extLst>
              <a:ext uri="{FF2B5EF4-FFF2-40B4-BE49-F238E27FC236}">
                <a16:creationId xmlns:a16="http://schemas.microsoft.com/office/drawing/2014/main" id="{592C5C4F-4896-BFC6-DCE8-E1ED5CA864B6}"/>
              </a:ext>
            </a:extLst>
          </p:cNvPr>
          <p:cNvSpPr txBox="1"/>
          <p:nvPr/>
        </p:nvSpPr>
        <p:spPr>
          <a:xfrm>
            <a:off x="0" y="588582"/>
            <a:ext cx="12192000" cy="923330"/>
          </a:xfrm>
          <a:prstGeom prst="rect">
            <a:avLst/>
          </a:prstGeom>
          <a:noFill/>
        </p:spPr>
        <p:txBody>
          <a:bodyPr wrap="square" rtlCol="0">
            <a:spAutoFit/>
          </a:bodyPr>
          <a:lstStyle/>
          <a:p>
            <a:r>
              <a:rPr lang="ja-JP" altLang="en-US" b="1"/>
              <a:t>◾️ロードマップとの対応</a:t>
            </a:r>
            <a:endParaRPr lang="en-US" altLang="ja-JP" b="1" dirty="0"/>
          </a:p>
          <a:p>
            <a:r>
              <a:rPr lang="ja-JP" altLang="en-US"/>
              <a:t>ロードマップ</a:t>
            </a:r>
            <a:r>
              <a:rPr lang="en-US" altLang="ja-JP"/>
              <a:t> I C) ④</a:t>
            </a:r>
            <a:r>
              <a:rPr lang="ja-JP" altLang="en-US"/>
              <a:t>に相当</a:t>
            </a:r>
            <a:r>
              <a:rPr lang="en-US" altLang="ja-JP"/>
              <a:t>(0724</a:t>
            </a:r>
            <a:r>
              <a:rPr lang="ja-JP" altLang="en-US"/>
              <a:t>版</a:t>
            </a:r>
            <a:r>
              <a:rPr lang="en-US" altLang="ja-JP"/>
              <a:t>)</a:t>
            </a:r>
            <a:r>
              <a:rPr lang="ja-JP" altLang="en-US"/>
              <a:t>。</a:t>
            </a:r>
            <a:endParaRPr lang="en-US" altLang="ja-JP" dirty="0"/>
          </a:p>
          <a:p>
            <a:r>
              <a:rPr lang="ja-JP" altLang="en-US" b="1"/>
              <a:t>◾️概要図</a:t>
            </a:r>
            <a:endParaRPr lang="en-US" altLang="ja-JP" b="1" dirty="0"/>
          </a:p>
        </p:txBody>
      </p:sp>
      <p:sp>
        <p:nvSpPr>
          <p:cNvPr id="3" name="正方形/長方形 2">
            <a:extLst>
              <a:ext uri="{FF2B5EF4-FFF2-40B4-BE49-F238E27FC236}">
                <a16:creationId xmlns:a16="http://schemas.microsoft.com/office/drawing/2014/main" id="{D89C8711-0FEC-C483-5A67-B989B7FB200A}"/>
              </a:ext>
            </a:extLst>
          </p:cNvPr>
          <p:cNvSpPr/>
          <p:nvPr/>
        </p:nvSpPr>
        <p:spPr>
          <a:xfrm>
            <a:off x="939672" y="1786203"/>
            <a:ext cx="2949627" cy="3071465"/>
          </a:xfrm>
          <a:prstGeom prst="rect">
            <a:avLst/>
          </a:prstGeom>
          <a:noFill/>
          <a:ln w="254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円/楕円 5">
            <a:extLst>
              <a:ext uri="{FF2B5EF4-FFF2-40B4-BE49-F238E27FC236}">
                <a16:creationId xmlns:a16="http://schemas.microsoft.com/office/drawing/2014/main" id="{F9BAE139-3A96-B1D0-1B7B-45A338424DFE}"/>
              </a:ext>
            </a:extLst>
          </p:cNvPr>
          <p:cNvSpPr/>
          <p:nvPr/>
        </p:nvSpPr>
        <p:spPr>
          <a:xfrm>
            <a:off x="2951851" y="3993765"/>
            <a:ext cx="215153" cy="217074"/>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円/楕円 6">
            <a:extLst>
              <a:ext uri="{FF2B5EF4-FFF2-40B4-BE49-F238E27FC236}">
                <a16:creationId xmlns:a16="http://schemas.microsoft.com/office/drawing/2014/main" id="{C6DE610D-74B5-9B7B-D7FA-93B259B1A0DD}"/>
              </a:ext>
            </a:extLst>
          </p:cNvPr>
          <p:cNvSpPr/>
          <p:nvPr/>
        </p:nvSpPr>
        <p:spPr>
          <a:xfrm>
            <a:off x="2944166" y="2526005"/>
            <a:ext cx="215153" cy="217074"/>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C03C01BF-04B7-EF11-025E-8A33AF359C14}"/>
              </a:ext>
            </a:extLst>
          </p:cNvPr>
          <p:cNvSpPr txBox="1"/>
          <p:nvPr/>
        </p:nvSpPr>
        <p:spPr>
          <a:xfrm>
            <a:off x="2851677" y="4210838"/>
            <a:ext cx="415498" cy="230832"/>
          </a:xfrm>
          <a:prstGeom prst="rect">
            <a:avLst/>
          </a:prstGeom>
          <a:noFill/>
        </p:spPr>
        <p:txBody>
          <a:bodyPr wrap="none" rtlCol="0">
            <a:spAutoFit/>
          </a:bodyPr>
          <a:lstStyle/>
          <a:p>
            <a:r>
              <a:rPr kumimoji="1" lang="ja-JP" altLang="en-US" sz="900" b="1"/>
              <a:t>論文</a:t>
            </a:r>
          </a:p>
        </p:txBody>
      </p:sp>
      <p:sp>
        <p:nvSpPr>
          <p:cNvPr id="9" name="テキスト ボックス 8">
            <a:extLst>
              <a:ext uri="{FF2B5EF4-FFF2-40B4-BE49-F238E27FC236}">
                <a16:creationId xmlns:a16="http://schemas.microsoft.com/office/drawing/2014/main" id="{BB8B61D6-5C05-D520-BFCD-20A800518BDE}"/>
              </a:ext>
            </a:extLst>
          </p:cNvPr>
          <p:cNvSpPr txBox="1"/>
          <p:nvPr/>
        </p:nvSpPr>
        <p:spPr>
          <a:xfrm>
            <a:off x="2790205" y="2761324"/>
            <a:ext cx="530915" cy="230832"/>
          </a:xfrm>
          <a:prstGeom prst="rect">
            <a:avLst/>
          </a:prstGeom>
          <a:noFill/>
        </p:spPr>
        <p:txBody>
          <a:bodyPr wrap="none" rtlCol="0">
            <a:spAutoFit/>
          </a:bodyPr>
          <a:lstStyle/>
          <a:p>
            <a:r>
              <a:rPr lang="ja-JP" altLang="en-US" sz="900" b="1"/>
              <a:t>データ</a:t>
            </a:r>
            <a:endParaRPr kumimoji="1" lang="ja-JP" altLang="en-US" sz="900" b="1"/>
          </a:p>
        </p:txBody>
      </p:sp>
      <p:sp>
        <p:nvSpPr>
          <p:cNvPr id="12" name="円/楕円 11">
            <a:extLst>
              <a:ext uri="{FF2B5EF4-FFF2-40B4-BE49-F238E27FC236}">
                <a16:creationId xmlns:a16="http://schemas.microsoft.com/office/drawing/2014/main" id="{831F8FD0-95FA-1CF0-C7A3-102813FF4EB3}"/>
              </a:ext>
            </a:extLst>
          </p:cNvPr>
          <p:cNvSpPr/>
          <p:nvPr/>
        </p:nvSpPr>
        <p:spPr>
          <a:xfrm>
            <a:off x="1429042" y="2383145"/>
            <a:ext cx="215153" cy="217074"/>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テキスト ボックス 12">
            <a:extLst>
              <a:ext uri="{FF2B5EF4-FFF2-40B4-BE49-F238E27FC236}">
                <a16:creationId xmlns:a16="http://schemas.microsoft.com/office/drawing/2014/main" id="{FE8DCE25-13D1-F9FE-576C-31ABE4EEB602}"/>
              </a:ext>
            </a:extLst>
          </p:cNvPr>
          <p:cNvSpPr txBox="1"/>
          <p:nvPr/>
        </p:nvSpPr>
        <p:spPr>
          <a:xfrm>
            <a:off x="1092253" y="3376296"/>
            <a:ext cx="877163" cy="230832"/>
          </a:xfrm>
          <a:prstGeom prst="rect">
            <a:avLst/>
          </a:prstGeom>
          <a:noFill/>
        </p:spPr>
        <p:txBody>
          <a:bodyPr wrap="none" rtlCol="0">
            <a:spAutoFit/>
          </a:bodyPr>
          <a:lstStyle/>
          <a:p>
            <a:r>
              <a:rPr lang="ja-JP" altLang="en-US" sz="900" b="1"/>
              <a:t>ファシリティ</a:t>
            </a:r>
            <a:endParaRPr kumimoji="1" lang="ja-JP" altLang="en-US" sz="900" b="1"/>
          </a:p>
        </p:txBody>
      </p:sp>
      <p:sp>
        <p:nvSpPr>
          <p:cNvPr id="14" name="円/楕円 13">
            <a:extLst>
              <a:ext uri="{FF2B5EF4-FFF2-40B4-BE49-F238E27FC236}">
                <a16:creationId xmlns:a16="http://schemas.microsoft.com/office/drawing/2014/main" id="{CF42726D-6A4B-9D54-4193-C716579B6C08}"/>
              </a:ext>
            </a:extLst>
          </p:cNvPr>
          <p:cNvSpPr/>
          <p:nvPr/>
        </p:nvSpPr>
        <p:spPr>
          <a:xfrm>
            <a:off x="1429042" y="3867619"/>
            <a:ext cx="215153" cy="217074"/>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テキスト ボックス 14">
            <a:extLst>
              <a:ext uri="{FF2B5EF4-FFF2-40B4-BE49-F238E27FC236}">
                <a16:creationId xmlns:a16="http://schemas.microsoft.com/office/drawing/2014/main" id="{DB005070-6635-0E8E-EF80-1DE3EAA10CCF}"/>
              </a:ext>
            </a:extLst>
          </p:cNvPr>
          <p:cNvSpPr txBox="1"/>
          <p:nvPr/>
        </p:nvSpPr>
        <p:spPr>
          <a:xfrm>
            <a:off x="1330792" y="4081801"/>
            <a:ext cx="415498" cy="230832"/>
          </a:xfrm>
          <a:prstGeom prst="rect">
            <a:avLst/>
          </a:prstGeom>
          <a:noFill/>
        </p:spPr>
        <p:txBody>
          <a:bodyPr wrap="none" rtlCol="0">
            <a:spAutoFit/>
          </a:bodyPr>
          <a:lstStyle/>
          <a:p>
            <a:r>
              <a:rPr kumimoji="1" lang="ja-JP" altLang="en-US" sz="900" b="1"/>
              <a:t>地名</a:t>
            </a:r>
          </a:p>
        </p:txBody>
      </p:sp>
      <p:sp>
        <p:nvSpPr>
          <p:cNvPr id="17" name="円/楕円 16">
            <a:extLst>
              <a:ext uri="{FF2B5EF4-FFF2-40B4-BE49-F238E27FC236}">
                <a16:creationId xmlns:a16="http://schemas.microsoft.com/office/drawing/2014/main" id="{D0EEB138-102F-041C-530F-3E219C060A9A}"/>
              </a:ext>
            </a:extLst>
          </p:cNvPr>
          <p:cNvSpPr/>
          <p:nvPr/>
        </p:nvSpPr>
        <p:spPr>
          <a:xfrm>
            <a:off x="2936482" y="3259885"/>
            <a:ext cx="215153" cy="217074"/>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テキスト ボックス 17">
            <a:extLst>
              <a:ext uri="{FF2B5EF4-FFF2-40B4-BE49-F238E27FC236}">
                <a16:creationId xmlns:a16="http://schemas.microsoft.com/office/drawing/2014/main" id="{04138DB9-89DB-15BF-52A3-CAB0E1ECB8F4}"/>
              </a:ext>
            </a:extLst>
          </p:cNvPr>
          <p:cNvSpPr txBox="1"/>
          <p:nvPr/>
        </p:nvSpPr>
        <p:spPr>
          <a:xfrm>
            <a:off x="2790205" y="3476412"/>
            <a:ext cx="530915" cy="230832"/>
          </a:xfrm>
          <a:prstGeom prst="rect">
            <a:avLst/>
          </a:prstGeom>
          <a:noFill/>
        </p:spPr>
        <p:txBody>
          <a:bodyPr wrap="none" rtlCol="0">
            <a:spAutoFit/>
          </a:bodyPr>
          <a:lstStyle/>
          <a:p>
            <a:r>
              <a:rPr lang="ja-JP" altLang="en-US" sz="900" b="1"/>
              <a:t>有体物</a:t>
            </a:r>
            <a:endParaRPr kumimoji="1" lang="ja-JP" altLang="en-US" sz="900" b="1"/>
          </a:p>
        </p:txBody>
      </p:sp>
      <p:cxnSp>
        <p:nvCxnSpPr>
          <p:cNvPr id="23" name="直線矢印コネクタ 22">
            <a:extLst>
              <a:ext uri="{FF2B5EF4-FFF2-40B4-BE49-F238E27FC236}">
                <a16:creationId xmlns:a16="http://schemas.microsoft.com/office/drawing/2014/main" id="{C969283D-094D-8E4E-43CA-183AFC5806F0}"/>
              </a:ext>
            </a:extLst>
          </p:cNvPr>
          <p:cNvCxnSpPr>
            <a:cxnSpLocks/>
            <a:stCxn id="17" idx="2"/>
            <a:endCxn id="12" idx="6"/>
          </p:cNvCxnSpPr>
          <p:nvPr/>
        </p:nvCxnSpPr>
        <p:spPr>
          <a:xfrm flipH="1" flipV="1">
            <a:off x="1644195" y="2491682"/>
            <a:ext cx="1292287" cy="876740"/>
          </a:xfrm>
          <a:prstGeom prst="straightConnector1">
            <a:avLst/>
          </a:prstGeom>
          <a:ln>
            <a:solidFill>
              <a:schemeClr val="accent2"/>
            </a:solidFill>
            <a:tailEnd type="triangle"/>
          </a:ln>
        </p:spPr>
        <p:style>
          <a:lnRef idx="2">
            <a:schemeClr val="accent1"/>
          </a:lnRef>
          <a:fillRef idx="0">
            <a:schemeClr val="accent1"/>
          </a:fillRef>
          <a:effectRef idx="1">
            <a:schemeClr val="accent1"/>
          </a:effectRef>
          <a:fontRef idx="minor">
            <a:schemeClr val="tx1"/>
          </a:fontRef>
        </p:style>
      </p:cxnSp>
      <p:cxnSp>
        <p:nvCxnSpPr>
          <p:cNvPr id="25" name="直線矢印コネクタ 24">
            <a:extLst>
              <a:ext uri="{FF2B5EF4-FFF2-40B4-BE49-F238E27FC236}">
                <a16:creationId xmlns:a16="http://schemas.microsoft.com/office/drawing/2014/main" id="{7A99C627-2C2F-5C40-8C82-BF8B1F8C9215}"/>
              </a:ext>
            </a:extLst>
          </p:cNvPr>
          <p:cNvCxnSpPr>
            <a:cxnSpLocks/>
            <a:stCxn id="6" idx="2"/>
            <a:endCxn id="12" idx="6"/>
          </p:cNvCxnSpPr>
          <p:nvPr/>
        </p:nvCxnSpPr>
        <p:spPr>
          <a:xfrm flipH="1" flipV="1">
            <a:off x="1644195" y="2491682"/>
            <a:ext cx="1307656" cy="1610620"/>
          </a:xfrm>
          <a:prstGeom prst="straightConnector1">
            <a:avLst/>
          </a:prstGeom>
          <a:ln>
            <a:solidFill>
              <a:schemeClr val="accent2"/>
            </a:solidFill>
            <a:tailEnd type="triangle"/>
          </a:ln>
        </p:spPr>
        <p:style>
          <a:lnRef idx="2">
            <a:schemeClr val="accent1"/>
          </a:lnRef>
          <a:fillRef idx="0">
            <a:schemeClr val="accent1"/>
          </a:fillRef>
          <a:effectRef idx="1">
            <a:schemeClr val="accent1"/>
          </a:effectRef>
          <a:fontRef idx="minor">
            <a:schemeClr val="tx1"/>
          </a:fontRef>
        </p:style>
      </p:cxnSp>
      <p:cxnSp>
        <p:nvCxnSpPr>
          <p:cNvPr id="28" name="直線矢印コネクタ 27">
            <a:extLst>
              <a:ext uri="{FF2B5EF4-FFF2-40B4-BE49-F238E27FC236}">
                <a16:creationId xmlns:a16="http://schemas.microsoft.com/office/drawing/2014/main" id="{769C085B-BFAE-358F-0AF9-E450CE42A97C}"/>
              </a:ext>
            </a:extLst>
          </p:cNvPr>
          <p:cNvCxnSpPr>
            <a:cxnSpLocks/>
            <a:stCxn id="7" idx="2"/>
            <a:endCxn id="12" idx="6"/>
          </p:cNvCxnSpPr>
          <p:nvPr/>
        </p:nvCxnSpPr>
        <p:spPr>
          <a:xfrm flipH="1" flipV="1">
            <a:off x="1644195" y="2491682"/>
            <a:ext cx="1299971" cy="142860"/>
          </a:xfrm>
          <a:prstGeom prst="straightConnector1">
            <a:avLst/>
          </a:prstGeom>
          <a:ln>
            <a:solidFill>
              <a:schemeClr val="accent2"/>
            </a:solidFill>
            <a:tailEnd type="triangle"/>
          </a:ln>
        </p:spPr>
        <p:style>
          <a:lnRef idx="2">
            <a:schemeClr val="accent1"/>
          </a:lnRef>
          <a:fillRef idx="0">
            <a:schemeClr val="accent1"/>
          </a:fillRef>
          <a:effectRef idx="1">
            <a:schemeClr val="accent1"/>
          </a:effectRef>
          <a:fontRef idx="minor">
            <a:schemeClr val="tx1"/>
          </a:fontRef>
        </p:style>
      </p:cxnSp>
      <p:cxnSp>
        <p:nvCxnSpPr>
          <p:cNvPr id="31" name="直線矢印コネクタ 30">
            <a:extLst>
              <a:ext uri="{FF2B5EF4-FFF2-40B4-BE49-F238E27FC236}">
                <a16:creationId xmlns:a16="http://schemas.microsoft.com/office/drawing/2014/main" id="{F5159AC2-F4E2-FDE5-9AD2-0E7291BB68A2}"/>
              </a:ext>
            </a:extLst>
          </p:cNvPr>
          <p:cNvCxnSpPr>
            <a:cxnSpLocks/>
            <a:stCxn id="6" idx="2"/>
            <a:endCxn id="14" idx="6"/>
          </p:cNvCxnSpPr>
          <p:nvPr/>
        </p:nvCxnSpPr>
        <p:spPr>
          <a:xfrm flipH="1" flipV="1">
            <a:off x="1644195" y="3976156"/>
            <a:ext cx="1307656" cy="126146"/>
          </a:xfrm>
          <a:prstGeom prst="straightConnector1">
            <a:avLst/>
          </a:prstGeom>
          <a:ln>
            <a:solidFill>
              <a:schemeClr val="accent2"/>
            </a:solidFill>
            <a:tailEnd type="triangle"/>
          </a:ln>
        </p:spPr>
        <p:style>
          <a:lnRef idx="2">
            <a:schemeClr val="accent1"/>
          </a:lnRef>
          <a:fillRef idx="0">
            <a:schemeClr val="accent1"/>
          </a:fillRef>
          <a:effectRef idx="1">
            <a:schemeClr val="accent1"/>
          </a:effectRef>
          <a:fontRef idx="minor">
            <a:schemeClr val="tx1"/>
          </a:fontRef>
        </p:style>
      </p:cxnSp>
      <p:cxnSp>
        <p:nvCxnSpPr>
          <p:cNvPr id="36" name="曲線コネクタ 35">
            <a:extLst>
              <a:ext uri="{FF2B5EF4-FFF2-40B4-BE49-F238E27FC236}">
                <a16:creationId xmlns:a16="http://schemas.microsoft.com/office/drawing/2014/main" id="{3D4FA4C5-31B8-9DE6-23A3-69F0E1EC5754}"/>
              </a:ext>
            </a:extLst>
          </p:cNvPr>
          <p:cNvCxnSpPr>
            <a:stCxn id="6" idx="6"/>
            <a:endCxn id="17" idx="6"/>
          </p:cNvCxnSpPr>
          <p:nvPr/>
        </p:nvCxnSpPr>
        <p:spPr>
          <a:xfrm flipH="1" flipV="1">
            <a:off x="3151635" y="3368422"/>
            <a:ext cx="15369" cy="733880"/>
          </a:xfrm>
          <a:prstGeom prst="curvedConnector3">
            <a:avLst>
              <a:gd name="adj1" fmla="val -1487410"/>
            </a:avLst>
          </a:prstGeom>
          <a:ln>
            <a:solidFill>
              <a:schemeClr val="accent2"/>
            </a:solidFill>
            <a:tailEnd type="triangle"/>
          </a:ln>
        </p:spPr>
        <p:style>
          <a:lnRef idx="2">
            <a:schemeClr val="accent1"/>
          </a:lnRef>
          <a:fillRef idx="0">
            <a:schemeClr val="accent1"/>
          </a:fillRef>
          <a:effectRef idx="1">
            <a:schemeClr val="accent1"/>
          </a:effectRef>
          <a:fontRef idx="minor">
            <a:schemeClr val="tx1"/>
          </a:fontRef>
        </p:style>
      </p:cxnSp>
      <p:cxnSp>
        <p:nvCxnSpPr>
          <p:cNvPr id="38" name="曲線コネクタ 37">
            <a:extLst>
              <a:ext uri="{FF2B5EF4-FFF2-40B4-BE49-F238E27FC236}">
                <a16:creationId xmlns:a16="http://schemas.microsoft.com/office/drawing/2014/main" id="{5A998CDA-EF7A-7119-70E7-8AE11B5F1327}"/>
              </a:ext>
            </a:extLst>
          </p:cNvPr>
          <p:cNvCxnSpPr>
            <a:cxnSpLocks/>
            <a:stCxn id="6" idx="6"/>
            <a:endCxn id="7" idx="6"/>
          </p:cNvCxnSpPr>
          <p:nvPr/>
        </p:nvCxnSpPr>
        <p:spPr>
          <a:xfrm flipH="1" flipV="1">
            <a:off x="3159319" y="2634542"/>
            <a:ext cx="7685" cy="1467760"/>
          </a:xfrm>
          <a:prstGeom prst="curvedConnector3">
            <a:avLst>
              <a:gd name="adj1" fmla="val -2974626"/>
            </a:avLst>
          </a:prstGeom>
          <a:ln>
            <a:solidFill>
              <a:schemeClr val="accent2"/>
            </a:solidFill>
            <a:tailEnd type="triangle"/>
          </a:ln>
        </p:spPr>
        <p:style>
          <a:lnRef idx="2">
            <a:schemeClr val="accent1"/>
          </a:lnRef>
          <a:fillRef idx="0">
            <a:schemeClr val="accent1"/>
          </a:fillRef>
          <a:effectRef idx="1">
            <a:schemeClr val="accent1"/>
          </a:effectRef>
          <a:fontRef idx="minor">
            <a:schemeClr val="tx1"/>
          </a:fontRef>
        </p:style>
      </p:cxnSp>
      <p:sp>
        <p:nvSpPr>
          <p:cNvPr id="43" name="正方形/長方形 42">
            <a:extLst>
              <a:ext uri="{FF2B5EF4-FFF2-40B4-BE49-F238E27FC236}">
                <a16:creationId xmlns:a16="http://schemas.microsoft.com/office/drawing/2014/main" id="{1C47D7E6-2F0D-8566-9284-90174C4F5ACF}"/>
              </a:ext>
            </a:extLst>
          </p:cNvPr>
          <p:cNvSpPr/>
          <p:nvPr/>
        </p:nvSpPr>
        <p:spPr>
          <a:xfrm>
            <a:off x="10747242" y="3196059"/>
            <a:ext cx="545566" cy="217074"/>
          </a:xfrm>
          <a:prstGeom prst="rect">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dist"/>
            <a:endParaRPr kumimoji="1" lang="ja-JP" altLang="en-US"/>
          </a:p>
        </p:txBody>
      </p:sp>
      <p:sp>
        <p:nvSpPr>
          <p:cNvPr id="56" name="テキスト ボックス 55">
            <a:extLst>
              <a:ext uri="{FF2B5EF4-FFF2-40B4-BE49-F238E27FC236}">
                <a16:creationId xmlns:a16="http://schemas.microsoft.com/office/drawing/2014/main" id="{A0787959-637F-7154-6144-E4A6A761FEBA}"/>
              </a:ext>
            </a:extLst>
          </p:cNvPr>
          <p:cNvSpPr txBox="1"/>
          <p:nvPr/>
        </p:nvSpPr>
        <p:spPr>
          <a:xfrm>
            <a:off x="10543352" y="3452067"/>
            <a:ext cx="992579" cy="230832"/>
          </a:xfrm>
          <a:prstGeom prst="rect">
            <a:avLst/>
          </a:prstGeom>
          <a:noFill/>
        </p:spPr>
        <p:txBody>
          <a:bodyPr wrap="none" rtlCol="0">
            <a:spAutoFit/>
          </a:bodyPr>
          <a:lstStyle/>
          <a:p>
            <a:r>
              <a:rPr lang="ja-JP" altLang="en-US" sz="900" b="1"/>
              <a:t>機関リポジトリ</a:t>
            </a:r>
            <a:endParaRPr kumimoji="1" lang="ja-JP" altLang="en-US" sz="900" b="1"/>
          </a:p>
        </p:txBody>
      </p:sp>
      <p:sp>
        <p:nvSpPr>
          <p:cNvPr id="64" name="正方形/長方形 63">
            <a:extLst>
              <a:ext uri="{FF2B5EF4-FFF2-40B4-BE49-F238E27FC236}">
                <a16:creationId xmlns:a16="http://schemas.microsoft.com/office/drawing/2014/main" id="{849A2489-4EEA-41A9-6EDE-84BC3EE5D7F8}"/>
              </a:ext>
            </a:extLst>
          </p:cNvPr>
          <p:cNvSpPr/>
          <p:nvPr/>
        </p:nvSpPr>
        <p:spPr>
          <a:xfrm>
            <a:off x="5595953" y="4259062"/>
            <a:ext cx="545566" cy="21707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5" name="テキスト ボックス 64">
            <a:extLst>
              <a:ext uri="{FF2B5EF4-FFF2-40B4-BE49-F238E27FC236}">
                <a16:creationId xmlns:a16="http://schemas.microsoft.com/office/drawing/2014/main" id="{E3C51378-108F-1C16-4299-26D1B79DD9CE}"/>
              </a:ext>
            </a:extLst>
          </p:cNvPr>
          <p:cNvSpPr txBox="1"/>
          <p:nvPr/>
        </p:nvSpPr>
        <p:spPr>
          <a:xfrm>
            <a:off x="5323291" y="4509937"/>
            <a:ext cx="1107996" cy="369332"/>
          </a:xfrm>
          <a:prstGeom prst="rect">
            <a:avLst/>
          </a:prstGeom>
          <a:noFill/>
        </p:spPr>
        <p:txBody>
          <a:bodyPr wrap="none" rtlCol="0">
            <a:spAutoFit/>
          </a:bodyPr>
          <a:lstStyle/>
          <a:p>
            <a:r>
              <a:rPr lang="en-US" altLang="ja-JP" sz="900" b="1" dirty="0"/>
              <a:t>ID</a:t>
            </a:r>
            <a:r>
              <a:rPr lang="ja-JP" altLang="en-US" sz="900" b="1"/>
              <a:t>管理システム</a:t>
            </a:r>
            <a:endParaRPr lang="en-US" altLang="ja-JP" sz="900" b="1"/>
          </a:p>
          <a:p>
            <a:r>
              <a:rPr kumimoji="1" lang="ja-JP" altLang="en-US" sz="900" b="1"/>
              <a:t>（ノードリスト）</a:t>
            </a:r>
          </a:p>
        </p:txBody>
      </p:sp>
      <p:cxnSp>
        <p:nvCxnSpPr>
          <p:cNvPr id="66" name="直線矢印コネクタ 65">
            <a:extLst>
              <a:ext uri="{FF2B5EF4-FFF2-40B4-BE49-F238E27FC236}">
                <a16:creationId xmlns:a16="http://schemas.microsoft.com/office/drawing/2014/main" id="{5F21DD55-4E9A-0F9F-3C03-4870B6F0A284}"/>
              </a:ext>
            </a:extLst>
          </p:cNvPr>
          <p:cNvCxnSpPr>
            <a:cxnSpLocks/>
            <a:stCxn id="14" idx="5"/>
            <a:endCxn id="64" idx="1"/>
          </p:cNvCxnSpPr>
          <p:nvPr/>
        </p:nvCxnSpPr>
        <p:spPr>
          <a:xfrm>
            <a:off x="1612687" y="4052903"/>
            <a:ext cx="3983266" cy="314696"/>
          </a:xfrm>
          <a:prstGeom prst="straightConnector1">
            <a:avLst/>
          </a:prstGeom>
          <a:ln w="12700">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69" name="直線矢印コネクタ 68">
            <a:extLst>
              <a:ext uri="{FF2B5EF4-FFF2-40B4-BE49-F238E27FC236}">
                <a16:creationId xmlns:a16="http://schemas.microsoft.com/office/drawing/2014/main" id="{75D3B1A4-C3D2-2AF8-92F3-9A4E716C2CBB}"/>
              </a:ext>
            </a:extLst>
          </p:cNvPr>
          <p:cNvCxnSpPr>
            <a:cxnSpLocks/>
            <a:stCxn id="6" idx="5"/>
            <a:endCxn id="64" idx="1"/>
          </p:cNvCxnSpPr>
          <p:nvPr/>
        </p:nvCxnSpPr>
        <p:spPr>
          <a:xfrm>
            <a:off x="3135496" y="4179049"/>
            <a:ext cx="2460457" cy="188550"/>
          </a:xfrm>
          <a:prstGeom prst="straightConnector1">
            <a:avLst/>
          </a:prstGeom>
          <a:ln w="12700">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73" name="直線矢印コネクタ 72">
            <a:extLst>
              <a:ext uri="{FF2B5EF4-FFF2-40B4-BE49-F238E27FC236}">
                <a16:creationId xmlns:a16="http://schemas.microsoft.com/office/drawing/2014/main" id="{409CED75-E19D-4828-5223-C1B783D25F23}"/>
              </a:ext>
            </a:extLst>
          </p:cNvPr>
          <p:cNvCxnSpPr>
            <a:cxnSpLocks/>
            <a:stCxn id="12" idx="5"/>
            <a:endCxn id="64" idx="1"/>
          </p:cNvCxnSpPr>
          <p:nvPr/>
        </p:nvCxnSpPr>
        <p:spPr>
          <a:xfrm>
            <a:off x="1612687" y="2568429"/>
            <a:ext cx="3983266" cy="1799170"/>
          </a:xfrm>
          <a:prstGeom prst="straightConnector1">
            <a:avLst/>
          </a:prstGeom>
          <a:ln w="12700">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76" name="直線矢印コネクタ 75">
            <a:extLst>
              <a:ext uri="{FF2B5EF4-FFF2-40B4-BE49-F238E27FC236}">
                <a16:creationId xmlns:a16="http://schemas.microsoft.com/office/drawing/2014/main" id="{8F62B854-6AF1-A02B-DE21-80F810C2C32D}"/>
              </a:ext>
            </a:extLst>
          </p:cNvPr>
          <p:cNvCxnSpPr>
            <a:cxnSpLocks/>
            <a:stCxn id="17" idx="5"/>
            <a:endCxn id="64" idx="1"/>
          </p:cNvCxnSpPr>
          <p:nvPr/>
        </p:nvCxnSpPr>
        <p:spPr>
          <a:xfrm>
            <a:off x="3120127" y="3445169"/>
            <a:ext cx="2475826" cy="922430"/>
          </a:xfrm>
          <a:prstGeom prst="straightConnector1">
            <a:avLst/>
          </a:prstGeom>
          <a:ln w="12700">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79" name="直線矢印コネクタ 78">
            <a:extLst>
              <a:ext uri="{FF2B5EF4-FFF2-40B4-BE49-F238E27FC236}">
                <a16:creationId xmlns:a16="http://schemas.microsoft.com/office/drawing/2014/main" id="{D9E15524-6BDF-7AAC-3A09-1D64C4094C49}"/>
              </a:ext>
            </a:extLst>
          </p:cNvPr>
          <p:cNvCxnSpPr>
            <a:cxnSpLocks/>
            <a:stCxn id="7" idx="5"/>
            <a:endCxn id="64" idx="1"/>
          </p:cNvCxnSpPr>
          <p:nvPr/>
        </p:nvCxnSpPr>
        <p:spPr>
          <a:xfrm>
            <a:off x="3127811" y="2711289"/>
            <a:ext cx="2468142" cy="1656310"/>
          </a:xfrm>
          <a:prstGeom prst="straightConnector1">
            <a:avLst/>
          </a:prstGeom>
          <a:ln w="12700">
            <a:headEnd type="triangle"/>
            <a:tailEnd type="triangle"/>
          </a:ln>
        </p:spPr>
        <p:style>
          <a:lnRef idx="2">
            <a:schemeClr val="accent1"/>
          </a:lnRef>
          <a:fillRef idx="0">
            <a:schemeClr val="accent1"/>
          </a:fillRef>
          <a:effectRef idx="1">
            <a:schemeClr val="accent1"/>
          </a:effectRef>
          <a:fontRef idx="minor">
            <a:schemeClr val="tx1"/>
          </a:fontRef>
        </p:style>
      </p:cxnSp>
      <p:sp>
        <p:nvSpPr>
          <p:cNvPr id="16" name="円/楕円 15">
            <a:extLst>
              <a:ext uri="{FF2B5EF4-FFF2-40B4-BE49-F238E27FC236}">
                <a16:creationId xmlns:a16="http://schemas.microsoft.com/office/drawing/2014/main" id="{E2C1E08E-7B00-395D-CD2E-150CA419DDB6}"/>
              </a:ext>
            </a:extLst>
          </p:cNvPr>
          <p:cNvSpPr/>
          <p:nvPr/>
        </p:nvSpPr>
        <p:spPr>
          <a:xfrm>
            <a:off x="1429042" y="3125382"/>
            <a:ext cx="215153" cy="217074"/>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1" name="テキスト ボックス 40">
            <a:extLst>
              <a:ext uri="{FF2B5EF4-FFF2-40B4-BE49-F238E27FC236}">
                <a16:creationId xmlns:a16="http://schemas.microsoft.com/office/drawing/2014/main" id="{3DFD649E-C9FA-74C7-C662-AB735A6D85F5}"/>
              </a:ext>
            </a:extLst>
          </p:cNvPr>
          <p:cNvSpPr txBox="1"/>
          <p:nvPr/>
        </p:nvSpPr>
        <p:spPr>
          <a:xfrm>
            <a:off x="1327030" y="2604671"/>
            <a:ext cx="415498" cy="230832"/>
          </a:xfrm>
          <a:prstGeom prst="rect">
            <a:avLst/>
          </a:prstGeom>
          <a:noFill/>
        </p:spPr>
        <p:txBody>
          <a:bodyPr wrap="none" rtlCol="0">
            <a:spAutoFit/>
          </a:bodyPr>
          <a:lstStyle/>
          <a:p>
            <a:r>
              <a:rPr kumimoji="1" lang="ja-JP" altLang="en-US" sz="900" b="1"/>
              <a:t>作者</a:t>
            </a:r>
          </a:p>
        </p:txBody>
      </p:sp>
      <p:cxnSp>
        <p:nvCxnSpPr>
          <p:cNvPr id="49" name="直線矢印コネクタ 48">
            <a:extLst>
              <a:ext uri="{FF2B5EF4-FFF2-40B4-BE49-F238E27FC236}">
                <a16:creationId xmlns:a16="http://schemas.microsoft.com/office/drawing/2014/main" id="{D3E274CC-0D0D-3CE6-A37D-B614BF87305A}"/>
              </a:ext>
            </a:extLst>
          </p:cNvPr>
          <p:cNvCxnSpPr>
            <a:cxnSpLocks/>
            <a:stCxn id="6" idx="2"/>
            <a:endCxn id="16" idx="6"/>
          </p:cNvCxnSpPr>
          <p:nvPr/>
        </p:nvCxnSpPr>
        <p:spPr>
          <a:xfrm flipH="1" flipV="1">
            <a:off x="1644195" y="3233919"/>
            <a:ext cx="1307656" cy="868383"/>
          </a:xfrm>
          <a:prstGeom prst="straightConnector1">
            <a:avLst/>
          </a:prstGeom>
          <a:ln>
            <a:solidFill>
              <a:schemeClr val="accent2"/>
            </a:solidFill>
            <a:tailEnd type="triangle"/>
          </a:ln>
        </p:spPr>
        <p:style>
          <a:lnRef idx="2">
            <a:schemeClr val="accent1"/>
          </a:lnRef>
          <a:fillRef idx="0">
            <a:schemeClr val="accent1"/>
          </a:fillRef>
          <a:effectRef idx="1">
            <a:schemeClr val="accent1"/>
          </a:effectRef>
          <a:fontRef idx="minor">
            <a:schemeClr val="tx1"/>
          </a:fontRef>
        </p:style>
      </p:cxnSp>
      <p:cxnSp>
        <p:nvCxnSpPr>
          <p:cNvPr id="58" name="直線矢印コネクタ 57">
            <a:extLst>
              <a:ext uri="{FF2B5EF4-FFF2-40B4-BE49-F238E27FC236}">
                <a16:creationId xmlns:a16="http://schemas.microsoft.com/office/drawing/2014/main" id="{B87BEC91-1F48-A387-D26C-7FCD4053A95F}"/>
              </a:ext>
            </a:extLst>
          </p:cNvPr>
          <p:cNvCxnSpPr>
            <a:cxnSpLocks/>
            <a:stCxn id="16" idx="5"/>
            <a:endCxn id="64" idx="1"/>
          </p:cNvCxnSpPr>
          <p:nvPr/>
        </p:nvCxnSpPr>
        <p:spPr>
          <a:xfrm>
            <a:off x="1612687" y="3310666"/>
            <a:ext cx="3983266" cy="1056933"/>
          </a:xfrm>
          <a:prstGeom prst="straightConnector1">
            <a:avLst/>
          </a:prstGeom>
          <a:ln w="12700">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61" name="直線矢印コネクタ 60">
            <a:extLst>
              <a:ext uri="{FF2B5EF4-FFF2-40B4-BE49-F238E27FC236}">
                <a16:creationId xmlns:a16="http://schemas.microsoft.com/office/drawing/2014/main" id="{5C07E9D5-31F5-4C38-CA90-0E091A5CE6ED}"/>
              </a:ext>
            </a:extLst>
          </p:cNvPr>
          <p:cNvCxnSpPr>
            <a:cxnSpLocks/>
            <a:stCxn id="7" idx="2"/>
            <a:endCxn id="16" idx="6"/>
          </p:cNvCxnSpPr>
          <p:nvPr/>
        </p:nvCxnSpPr>
        <p:spPr>
          <a:xfrm flipH="1">
            <a:off x="1644195" y="2634542"/>
            <a:ext cx="1299971" cy="599377"/>
          </a:xfrm>
          <a:prstGeom prst="straightConnector1">
            <a:avLst/>
          </a:prstGeom>
          <a:ln>
            <a:solidFill>
              <a:schemeClr val="accent2"/>
            </a:solidFill>
            <a:tailEnd type="triangle"/>
          </a:ln>
        </p:spPr>
        <p:style>
          <a:lnRef idx="2">
            <a:schemeClr val="accent1"/>
          </a:lnRef>
          <a:fillRef idx="0">
            <a:schemeClr val="accent1"/>
          </a:fillRef>
          <a:effectRef idx="1">
            <a:schemeClr val="accent1"/>
          </a:effectRef>
          <a:fontRef idx="minor">
            <a:schemeClr val="tx1"/>
          </a:fontRef>
        </p:style>
      </p:cxnSp>
      <p:sp>
        <p:nvSpPr>
          <p:cNvPr id="125" name="テキスト ボックス 124">
            <a:extLst>
              <a:ext uri="{FF2B5EF4-FFF2-40B4-BE49-F238E27FC236}">
                <a16:creationId xmlns:a16="http://schemas.microsoft.com/office/drawing/2014/main" id="{A5B18012-C6D4-A2EC-2FE5-C6B99036DE5D}"/>
              </a:ext>
            </a:extLst>
          </p:cNvPr>
          <p:cNvSpPr txBox="1"/>
          <p:nvPr/>
        </p:nvSpPr>
        <p:spPr>
          <a:xfrm>
            <a:off x="1804240" y="4936880"/>
            <a:ext cx="1337226" cy="230832"/>
          </a:xfrm>
          <a:prstGeom prst="rect">
            <a:avLst/>
          </a:prstGeom>
          <a:noFill/>
        </p:spPr>
        <p:txBody>
          <a:bodyPr wrap="none" rtlCol="0">
            <a:spAutoFit/>
          </a:bodyPr>
          <a:lstStyle/>
          <a:p>
            <a:r>
              <a:rPr kumimoji="1" lang="ja-JP" altLang="en-US" sz="900" b="1" dirty="0"/>
              <a:t>知識グラフ</a:t>
            </a:r>
            <a:r>
              <a:rPr kumimoji="1" lang="en-US" altLang="ja-JP" sz="900" b="1" dirty="0"/>
              <a:t>/</a:t>
            </a:r>
            <a:r>
              <a:rPr kumimoji="1" lang="ja-JP" altLang="en-US" sz="900" b="1" dirty="0"/>
              <a:t>グラフ</a:t>
            </a:r>
            <a:r>
              <a:rPr kumimoji="1" lang="en-US" altLang="ja-JP" sz="900" b="1" dirty="0"/>
              <a:t>DB</a:t>
            </a:r>
            <a:endParaRPr kumimoji="1" lang="ja-JP" altLang="en-US" sz="900" b="1"/>
          </a:p>
        </p:txBody>
      </p:sp>
      <p:sp>
        <p:nvSpPr>
          <p:cNvPr id="132" name="正方形/長方形 131">
            <a:extLst>
              <a:ext uri="{FF2B5EF4-FFF2-40B4-BE49-F238E27FC236}">
                <a16:creationId xmlns:a16="http://schemas.microsoft.com/office/drawing/2014/main" id="{67739EF0-5D12-91D6-C8C8-36FC5809A9BF}"/>
              </a:ext>
            </a:extLst>
          </p:cNvPr>
          <p:cNvSpPr/>
          <p:nvPr/>
        </p:nvSpPr>
        <p:spPr>
          <a:xfrm flipH="1">
            <a:off x="9013446" y="2951034"/>
            <a:ext cx="567621" cy="217074"/>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dist"/>
            <a:endParaRPr kumimoji="1" lang="ja-JP" altLang="en-US"/>
          </a:p>
        </p:txBody>
      </p:sp>
      <p:sp>
        <p:nvSpPr>
          <p:cNvPr id="133" name="正方形/長方形 132">
            <a:extLst>
              <a:ext uri="{FF2B5EF4-FFF2-40B4-BE49-F238E27FC236}">
                <a16:creationId xmlns:a16="http://schemas.microsoft.com/office/drawing/2014/main" id="{A13212B7-54A1-9E7F-6E70-D900341EA284}"/>
              </a:ext>
            </a:extLst>
          </p:cNvPr>
          <p:cNvSpPr/>
          <p:nvPr/>
        </p:nvSpPr>
        <p:spPr>
          <a:xfrm flipH="1">
            <a:off x="9165846" y="3205852"/>
            <a:ext cx="567621" cy="217074"/>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dist"/>
            <a:endParaRPr kumimoji="1" lang="ja-JP" altLang="en-US"/>
          </a:p>
        </p:txBody>
      </p:sp>
      <p:sp>
        <p:nvSpPr>
          <p:cNvPr id="134" name="正方形/長方形 133">
            <a:extLst>
              <a:ext uri="{FF2B5EF4-FFF2-40B4-BE49-F238E27FC236}">
                <a16:creationId xmlns:a16="http://schemas.microsoft.com/office/drawing/2014/main" id="{48EE57DC-F5A7-EC84-88F6-5E6CFF5D0EA6}"/>
              </a:ext>
            </a:extLst>
          </p:cNvPr>
          <p:cNvSpPr/>
          <p:nvPr/>
        </p:nvSpPr>
        <p:spPr>
          <a:xfrm flipH="1">
            <a:off x="9404414" y="3460670"/>
            <a:ext cx="567621" cy="217074"/>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dist"/>
            <a:endParaRPr kumimoji="1" lang="ja-JP" altLang="en-US"/>
          </a:p>
        </p:txBody>
      </p:sp>
      <p:sp>
        <p:nvSpPr>
          <p:cNvPr id="136" name="テキスト ボックス 135">
            <a:extLst>
              <a:ext uri="{FF2B5EF4-FFF2-40B4-BE49-F238E27FC236}">
                <a16:creationId xmlns:a16="http://schemas.microsoft.com/office/drawing/2014/main" id="{E2265275-6417-9E6D-E498-2C3A085978CF}"/>
              </a:ext>
            </a:extLst>
          </p:cNvPr>
          <p:cNvSpPr txBox="1"/>
          <p:nvPr/>
        </p:nvSpPr>
        <p:spPr>
          <a:xfrm>
            <a:off x="9497893" y="3709026"/>
            <a:ext cx="415498" cy="230832"/>
          </a:xfrm>
          <a:prstGeom prst="rect">
            <a:avLst/>
          </a:prstGeom>
          <a:noFill/>
        </p:spPr>
        <p:txBody>
          <a:bodyPr wrap="none" rtlCol="0">
            <a:spAutoFit/>
          </a:bodyPr>
          <a:lstStyle/>
          <a:p>
            <a:r>
              <a:rPr kumimoji="1" lang="ja-JP" altLang="en-US" sz="900" b="1"/>
              <a:t>論文</a:t>
            </a:r>
          </a:p>
        </p:txBody>
      </p:sp>
      <p:sp>
        <p:nvSpPr>
          <p:cNvPr id="143" name="正方形/長方形 142">
            <a:extLst>
              <a:ext uri="{FF2B5EF4-FFF2-40B4-BE49-F238E27FC236}">
                <a16:creationId xmlns:a16="http://schemas.microsoft.com/office/drawing/2014/main" id="{2A2F853B-588C-345A-0BE8-3DBB184C8746}"/>
              </a:ext>
            </a:extLst>
          </p:cNvPr>
          <p:cNvSpPr/>
          <p:nvPr/>
        </p:nvSpPr>
        <p:spPr>
          <a:xfrm flipH="1">
            <a:off x="7284800" y="2102572"/>
            <a:ext cx="567621" cy="217074"/>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dist"/>
            <a:endParaRPr kumimoji="1" lang="ja-JP" altLang="en-US"/>
          </a:p>
        </p:txBody>
      </p:sp>
      <p:sp>
        <p:nvSpPr>
          <p:cNvPr id="144" name="正方形/長方形 143">
            <a:extLst>
              <a:ext uri="{FF2B5EF4-FFF2-40B4-BE49-F238E27FC236}">
                <a16:creationId xmlns:a16="http://schemas.microsoft.com/office/drawing/2014/main" id="{D4427869-D529-3A84-155A-171938FC9ECD}"/>
              </a:ext>
            </a:extLst>
          </p:cNvPr>
          <p:cNvSpPr/>
          <p:nvPr/>
        </p:nvSpPr>
        <p:spPr>
          <a:xfrm flipH="1">
            <a:off x="7437200" y="2254972"/>
            <a:ext cx="567621" cy="217074"/>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dist"/>
            <a:endParaRPr kumimoji="1" lang="ja-JP" altLang="en-US"/>
          </a:p>
        </p:txBody>
      </p:sp>
      <p:sp>
        <p:nvSpPr>
          <p:cNvPr id="145" name="正方形/長方形 144">
            <a:extLst>
              <a:ext uri="{FF2B5EF4-FFF2-40B4-BE49-F238E27FC236}">
                <a16:creationId xmlns:a16="http://schemas.microsoft.com/office/drawing/2014/main" id="{765AE20E-41DB-28EE-4510-0D02132F4109}"/>
              </a:ext>
            </a:extLst>
          </p:cNvPr>
          <p:cNvSpPr/>
          <p:nvPr/>
        </p:nvSpPr>
        <p:spPr>
          <a:xfrm flipH="1">
            <a:off x="7589600" y="2407372"/>
            <a:ext cx="567621" cy="217074"/>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dist"/>
            <a:endParaRPr kumimoji="1" lang="ja-JP" altLang="en-US"/>
          </a:p>
        </p:txBody>
      </p:sp>
      <p:sp>
        <p:nvSpPr>
          <p:cNvPr id="146" name="正方形/長方形 145">
            <a:extLst>
              <a:ext uri="{FF2B5EF4-FFF2-40B4-BE49-F238E27FC236}">
                <a16:creationId xmlns:a16="http://schemas.microsoft.com/office/drawing/2014/main" id="{34657E93-BEF7-1A2A-85E7-CAE0EB98DA83}"/>
              </a:ext>
            </a:extLst>
          </p:cNvPr>
          <p:cNvSpPr/>
          <p:nvPr/>
        </p:nvSpPr>
        <p:spPr>
          <a:xfrm flipH="1">
            <a:off x="7290503" y="2951861"/>
            <a:ext cx="567621" cy="217074"/>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dist"/>
            <a:endParaRPr kumimoji="1" lang="ja-JP" altLang="en-US"/>
          </a:p>
        </p:txBody>
      </p:sp>
      <p:sp>
        <p:nvSpPr>
          <p:cNvPr id="147" name="正方形/長方形 146">
            <a:extLst>
              <a:ext uri="{FF2B5EF4-FFF2-40B4-BE49-F238E27FC236}">
                <a16:creationId xmlns:a16="http://schemas.microsoft.com/office/drawing/2014/main" id="{81C31589-C478-7EB6-5599-DA92CB2DB368}"/>
              </a:ext>
            </a:extLst>
          </p:cNvPr>
          <p:cNvSpPr/>
          <p:nvPr/>
        </p:nvSpPr>
        <p:spPr>
          <a:xfrm flipH="1">
            <a:off x="7442903" y="3104261"/>
            <a:ext cx="567621" cy="217074"/>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dist"/>
            <a:endParaRPr kumimoji="1" lang="ja-JP" altLang="en-US"/>
          </a:p>
        </p:txBody>
      </p:sp>
      <p:sp>
        <p:nvSpPr>
          <p:cNvPr id="148" name="正方形/長方形 147">
            <a:extLst>
              <a:ext uri="{FF2B5EF4-FFF2-40B4-BE49-F238E27FC236}">
                <a16:creationId xmlns:a16="http://schemas.microsoft.com/office/drawing/2014/main" id="{787F10B9-A306-D27C-4437-3788E9F80B28}"/>
              </a:ext>
            </a:extLst>
          </p:cNvPr>
          <p:cNvSpPr/>
          <p:nvPr/>
        </p:nvSpPr>
        <p:spPr>
          <a:xfrm flipH="1">
            <a:off x="7595303" y="3256661"/>
            <a:ext cx="567621" cy="217074"/>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dist"/>
            <a:endParaRPr kumimoji="1" lang="ja-JP" altLang="en-US"/>
          </a:p>
        </p:txBody>
      </p:sp>
      <p:sp>
        <p:nvSpPr>
          <p:cNvPr id="149" name="正方形/長方形 148">
            <a:extLst>
              <a:ext uri="{FF2B5EF4-FFF2-40B4-BE49-F238E27FC236}">
                <a16:creationId xmlns:a16="http://schemas.microsoft.com/office/drawing/2014/main" id="{88E86F69-D5A6-2818-109E-3FDEB1B8FE7C}"/>
              </a:ext>
            </a:extLst>
          </p:cNvPr>
          <p:cNvSpPr/>
          <p:nvPr/>
        </p:nvSpPr>
        <p:spPr>
          <a:xfrm flipH="1">
            <a:off x="7330024" y="3908280"/>
            <a:ext cx="567621" cy="217074"/>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dist"/>
            <a:endParaRPr kumimoji="1" lang="ja-JP" altLang="en-US"/>
          </a:p>
        </p:txBody>
      </p:sp>
      <p:sp>
        <p:nvSpPr>
          <p:cNvPr id="150" name="正方形/長方形 149">
            <a:extLst>
              <a:ext uri="{FF2B5EF4-FFF2-40B4-BE49-F238E27FC236}">
                <a16:creationId xmlns:a16="http://schemas.microsoft.com/office/drawing/2014/main" id="{B64D5DD8-AA4D-AF96-77A4-93AA118618A7}"/>
              </a:ext>
            </a:extLst>
          </p:cNvPr>
          <p:cNvSpPr/>
          <p:nvPr/>
        </p:nvSpPr>
        <p:spPr>
          <a:xfrm flipH="1">
            <a:off x="7482424" y="4060680"/>
            <a:ext cx="567621" cy="217074"/>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dist"/>
            <a:endParaRPr kumimoji="1" lang="ja-JP" altLang="en-US"/>
          </a:p>
        </p:txBody>
      </p:sp>
      <p:sp>
        <p:nvSpPr>
          <p:cNvPr id="151" name="正方形/長方形 150">
            <a:extLst>
              <a:ext uri="{FF2B5EF4-FFF2-40B4-BE49-F238E27FC236}">
                <a16:creationId xmlns:a16="http://schemas.microsoft.com/office/drawing/2014/main" id="{41D03DDE-D661-69ED-7D57-E3EA7062450F}"/>
              </a:ext>
            </a:extLst>
          </p:cNvPr>
          <p:cNvSpPr/>
          <p:nvPr/>
        </p:nvSpPr>
        <p:spPr>
          <a:xfrm flipH="1">
            <a:off x="7634824" y="4213080"/>
            <a:ext cx="567621" cy="217074"/>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dist"/>
            <a:endParaRPr kumimoji="1" lang="ja-JP" altLang="en-US"/>
          </a:p>
        </p:txBody>
      </p:sp>
      <p:sp>
        <p:nvSpPr>
          <p:cNvPr id="152" name="テキスト ボックス 151">
            <a:extLst>
              <a:ext uri="{FF2B5EF4-FFF2-40B4-BE49-F238E27FC236}">
                <a16:creationId xmlns:a16="http://schemas.microsoft.com/office/drawing/2014/main" id="{0D34E735-BFD5-44F5-55B6-9EC1431B4FEE}"/>
              </a:ext>
            </a:extLst>
          </p:cNvPr>
          <p:cNvSpPr txBox="1"/>
          <p:nvPr/>
        </p:nvSpPr>
        <p:spPr>
          <a:xfrm>
            <a:off x="7565515" y="4457827"/>
            <a:ext cx="761747" cy="369332"/>
          </a:xfrm>
          <a:prstGeom prst="rect">
            <a:avLst/>
          </a:prstGeom>
          <a:noFill/>
        </p:spPr>
        <p:txBody>
          <a:bodyPr wrap="none" rtlCol="0">
            <a:spAutoFit/>
          </a:bodyPr>
          <a:lstStyle/>
          <a:p>
            <a:r>
              <a:rPr kumimoji="1" lang="ja-JP" altLang="en-US" sz="900" b="1"/>
              <a:t>リソース</a:t>
            </a:r>
            <a:endParaRPr kumimoji="1" lang="en-US" altLang="ja-JP" sz="900" b="1"/>
          </a:p>
          <a:p>
            <a:r>
              <a:rPr lang="ja-JP" altLang="en-US" sz="900" b="1"/>
              <a:t>（の記述）</a:t>
            </a:r>
            <a:endParaRPr kumimoji="1" lang="ja-JP" altLang="en-US" sz="900" b="1"/>
          </a:p>
        </p:txBody>
      </p:sp>
      <p:sp>
        <p:nvSpPr>
          <p:cNvPr id="159" name="正方形/長方形 158">
            <a:extLst>
              <a:ext uri="{FF2B5EF4-FFF2-40B4-BE49-F238E27FC236}">
                <a16:creationId xmlns:a16="http://schemas.microsoft.com/office/drawing/2014/main" id="{8EC8F150-EE37-FD85-742B-6E0F70D33D10}"/>
              </a:ext>
            </a:extLst>
          </p:cNvPr>
          <p:cNvSpPr/>
          <p:nvPr/>
        </p:nvSpPr>
        <p:spPr>
          <a:xfrm>
            <a:off x="5593954" y="2107243"/>
            <a:ext cx="545566" cy="217074"/>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0" name="テキスト ボックス 159">
            <a:extLst>
              <a:ext uri="{FF2B5EF4-FFF2-40B4-BE49-F238E27FC236}">
                <a16:creationId xmlns:a16="http://schemas.microsoft.com/office/drawing/2014/main" id="{D7F903EE-F5D8-D9E9-E39F-FED05FE5BDB9}"/>
              </a:ext>
            </a:extLst>
          </p:cNvPr>
          <p:cNvSpPr txBox="1"/>
          <p:nvPr/>
        </p:nvSpPr>
        <p:spPr>
          <a:xfrm>
            <a:off x="5312739" y="2387830"/>
            <a:ext cx="1107996" cy="369332"/>
          </a:xfrm>
          <a:prstGeom prst="rect">
            <a:avLst/>
          </a:prstGeom>
          <a:noFill/>
        </p:spPr>
        <p:txBody>
          <a:bodyPr wrap="none" rtlCol="0">
            <a:spAutoFit/>
          </a:bodyPr>
          <a:lstStyle/>
          <a:p>
            <a:r>
              <a:rPr kumimoji="1" lang="ja-JP" altLang="en-US" sz="900" b="1" dirty="0"/>
              <a:t>関係性</a:t>
            </a:r>
            <a:r>
              <a:rPr kumimoji="1" lang="en-US" altLang="ja-JP" sz="900" b="1" dirty="0"/>
              <a:t>DB</a:t>
            </a:r>
          </a:p>
          <a:p>
            <a:r>
              <a:rPr lang="ja-JP" altLang="en-US" sz="900" b="1" dirty="0"/>
              <a:t>（エッジリスト）</a:t>
            </a:r>
            <a:endParaRPr kumimoji="1" lang="ja-JP" altLang="en-US" sz="900" b="1"/>
          </a:p>
        </p:txBody>
      </p:sp>
      <p:sp>
        <p:nvSpPr>
          <p:cNvPr id="161" name="正方形/長方形 160">
            <a:extLst>
              <a:ext uri="{FF2B5EF4-FFF2-40B4-BE49-F238E27FC236}">
                <a16:creationId xmlns:a16="http://schemas.microsoft.com/office/drawing/2014/main" id="{B8513BDB-29E3-6C92-92D0-0077211D1E61}"/>
              </a:ext>
            </a:extLst>
          </p:cNvPr>
          <p:cNvSpPr/>
          <p:nvPr/>
        </p:nvSpPr>
        <p:spPr>
          <a:xfrm>
            <a:off x="863332" y="1711248"/>
            <a:ext cx="2949627" cy="3071465"/>
          </a:xfrm>
          <a:prstGeom prst="rect">
            <a:avLst/>
          </a:prstGeom>
          <a:noFill/>
          <a:ln w="254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62" name="直線矢印コネクタ 161">
            <a:extLst>
              <a:ext uri="{FF2B5EF4-FFF2-40B4-BE49-F238E27FC236}">
                <a16:creationId xmlns:a16="http://schemas.microsoft.com/office/drawing/2014/main" id="{705333E4-CF6D-4C2D-178B-430E82389674}"/>
              </a:ext>
            </a:extLst>
          </p:cNvPr>
          <p:cNvCxnSpPr>
            <a:cxnSpLocks/>
            <a:stCxn id="159" idx="2"/>
            <a:endCxn id="64" idx="0"/>
          </p:cNvCxnSpPr>
          <p:nvPr/>
        </p:nvCxnSpPr>
        <p:spPr>
          <a:xfrm>
            <a:off x="5866737" y="2324317"/>
            <a:ext cx="1999" cy="1934745"/>
          </a:xfrm>
          <a:prstGeom prst="straightConnector1">
            <a:avLst/>
          </a:prstGeom>
          <a:ln w="38100">
            <a:headEnd type="triangle"/>
            <a:tailEnd type="none"/>
          </a:ln>
        </p:spPr>
        <p:style>
          <a:lnRef idx="2">
            <a:schemeClr val="accent1"/>
          </a:lnRef>
          <a:fillRef idx="0">
            <a:schemeClr val="accent1"/>
          </a:fillRef>
          <a:effectRef idx="1">
            <a:schemeClr val="accent1"/>
          </a:effectRef>
          <a:fontRef idx="minor">
            <a:schemeClr val="tx1"/>
          </a:fontRef>
        </p:style>
      </p:cxnSp>
      <p:cxnSp>
        <p:nvCxnSpPr>
          <p:cNvPr id="165" name="直線矢印コネクタ 164">
            <a:extLst>
              <a:ext uri="{FF2B5EF4-FFF2-40B4-BE49-F238E27FC236}">
                <a16:creationId xmlns:a16="http://schemas.microsoft.com/office/drawing/2014/main" id="{F7928226-30F4-4BB2-3846-1FEC24683350}"/>
              </a:ext>
            </a:extLst>
          </p:cNvPr>
          <p:cNvCxnSpPr>
            <a:cxnSpLocks/>
            <a:stCxn id="159" idx="1"/>
          </p:cNvCxnSpPr>
          <p:nvPr/>
        </p:nvCxnSpPr>
        <p:spPr>
          <a:xfrm flipH="1">
            <a:off x="2282232" y="2215780"/>
            <a:ext cx="3311722" cy="343506"/>
          </a:xfrm>
          <a:prstGeom prst="straightConnector1">
            <a:avLst/>
          </a:prstGeom>
          <a:ln>
            <a:solidFill>
              <a:schemeClr val="accent2"/>
            </a:solidFill>
            <a:prstDash val="sysDash"/>
            <a:tailEnd type="triangle"/>
          </a:ln>
        </p:spPr>
        <p:style>
          <a:lnRef idx="2">
            <a:schemeClr val="accent1"/>
          </a:lnRef>
          <a:fillRef idx="0">
            <a:schemeClr val="accent1"/>
          </a:fillRef>
          <a:effectRef idx="1">
            <a:schemeClr val="accent1"/>
          </a:effectRef>
          <a:fontRef idx="minor">
            <a:schemeClr val="tx1"/>
          </a:fontRef>
        </p:style>
      </p:cxnSp>
      <p:cxnSp>
        <p:nvCxnSpPr>
          <p:cNvPr id="168" name="直線矢印コネクタ 167">
            <a:extLst>
              <a:ext uri="{FF2B5EF4-FFF2-40B4-BE49-F238E27FC236}">
                <a16:creationId xmlns:a16="http://schemas.microsoft.com/office/drawing/2014/main" id="{487F28FC-DD0E-57F7-8E93-443703B524D7}"/>
              </a:ext>
            </a:extLst>
          </p:cNvPr>
          <p:cNvCxnSpPr>
            <a:cxnSpLocks/>
            <a:stCxn id="159" idx="1"/>
          </p:cNvCxnSpPr>
          <p:nvPr/>
        </p:nvCxnSpPr>
        <p:spPr>
          <a:xfrm flipH="1">
            <a:off x="2468780" y="2215780"/>
            <a:ext cx="3125174" cy="641341"/>
          </a:xfrm>
          <a:prstGeom prst="straightConnector1">
            <a:avLst/>
          </a:prstGeom>
          <a:ln>
            <a:solidFill>
              <a:schemeClr val="accent2"/>
            </a:solidFill>
            <a:prstDash val="sysDash"/>
            <a:tailEnd type="triangle"/>
          </a:ln>
        </p:spPr>
        <p:style>
          <a:lnRef idx="2">
            <a:schemeClr val="accent1"/>
          </a:lnRef>
          <a:fillRef idx="0">
            <a:schemeClr val="accent1"/>
          </a:fillRef>
          <a:effectRef idx="1">
            <a:schemeClr val="accent1"/>
          </a:effectRef>
          <a:fontRef idx="minor">
            <a:schemeClr val="tx1"/>
          </a:fontRef>
        </p:style>
      </p:cxnSp>
      <p:cxnSp>
        <p:nvCxnSpPr>
          <p:cNvPr id="171" name="直線矢印コネクタ 170">
            <a:extLst>
              <a:ext uri="{FF2B5EF4-FFF2-40B4-BE49-F238E27FC236}">
                <a16:creationId xmlns:a16="http://schemas.microsoft.com/office/drawing/2014/main" id="{A517FFF2-8FB6-4752-EAA4-E151E19DB770}"/>
              </a:ext>
            </a:extLst>
          </p:cNvPr>
          <p:cNvCxnSpPr>
            <a:cxnSpLocks/>
            <a:stCxn id="159" idx="1"/>
          </p:cNvCxnSpPr>
          <p:nvPr/>
        </p:nvCxnSpPr>
        <p:spPr>
          <a:xfrm flipH="1">
            <a:off x="3358803" y="2215780"/>
            <a:ext cx="2235151" cy="774360"/>
          </a:xfrm>
          <a:prstGeom prst="straightConnector1">
            <a:avLst/>
          </a:prstGeom>
          <a:ln>
            <a:solidFill>
              <a:schemeClr val="accent2"/>
            </a:solidFill>
            <a:prstDash val="sysDash"/>
            <a:tailEnd type="triangle"/>
          </a:ln>
        </p:spPr>
        <p:style>
          <a:lnRef idx="2">
            <a:schemeClr val="accent1"/>
          </a:lnRef>
          <a:fillRef idx="0">
            <a:schemeClr val="accent1"/>
          </a:fillRef>
          <a:effectRef idx="1">
            <a:schemeClr val="accent1"/>
          </a:effectRef>
          <a:fontRef idx="minor">
            <a:schemeClr val="tx1"/>
          </a:fontRef>
        </p:style>
      </p:cxnSp>
      <p:cxnSp>
        <p:nvCxnSpPr>
          <p:cNvPr id="174" name="直線矢印コネクタ 173">
            <a:extLst>
              <a:ext uri="{FF2B5EF4-FFF2-40B4-BE49-F238E27FC236}">
                <a16:creationId xmlns:a16="http://schemas.microsoft.com/office/drawing/2014/main" id="{BA261667-0D93-1E61-2F3D-2C447EA783CF}"/>
              </a:ext>
            </a:extLst>
          </p:cNvPr>
          <p:cNvCxnSpPr>
            <a:cxnSpLocks/>
            <a:stCxn id="132" idx="1"/>
            <a:endCxn id="43" idx="1"/>
          </p:cNvCxnSpPr>
          <p:nvPr/>
        </p:nvCxnSpPr>
        <p:spPr>
          <a:xfrm>
            <a:off x="9581067" y="3059571"/>
            <a:ext cx="1166175" cy="245025"/>
          </a:xfrm>
          <a:prstGeom prst="straightConnector1">
            <a:avLst/>
          </a:prstGeom>
          <a:ln w="12700">
            <a:solidFill>
              <a:schemeClr val="tx1">
                <a:lumMod val="50000"/>
                <a:lumOff val="50000"/>
              </a:schemeClr>
            </a:solidFill>
            <a:headEnd type="triangle"/>
            <a:tailEnd type="none"/>
          </a:ln>
        </p:spPr>
        <p:style>
          <a:lnRef idx="2">
            <a:schemeClr val="accent1"/>
          </a:lnRef>
          <a:fillRef idx="0">
            <a:schemeClr val="accent1"/>
          </a:fillRef>
          <a:effectRef idx="1">
            <a:schemeClr val="accent1"/>
          </a:effectRef>
          <a:fontRef idx="minor">
            <a:schemeClr val="tx1"/>
          </a:fontRef>
        </p:style>
      </p:cxnSp>
      <p:cxnSp>
        <p:nvCxnSpPr>
          <p:cNvPr id="177" name="直線矢印コネクタ 176">
            <a:extLst>
              <a:ext uri="{FF2B5EF4-FFF2-40B4-BE49-F238E27FC236}">
                <a16:creationId xmlns:a16="http://schemas.microsoft.com/office/drawing/2014/main" id="{10D2B425-3D7D-5850-98D3-82F952CE3ACA}"/>
              </a:ext>
            </a:extLst>
          </p:cNvPr>
          <p:cNvCxnSpPr>
            <a:cxnSpLocks/>
            <a:stCxn id="133" idx="1"/>
            <a:endCxn id="43" idx="1"/>
          </p:cNvCxnSpPr>
          <p:nvPr/>
        </p:nvCxnSpPr>
        <p:spPr>
          <a:xfrm flipV="1">
            <a:off x="9733467" y="3304596"/>
            <a:ext cx="1013775" cy="9793"/>
          </a:xfrm>
          <a:prstGeom prst="straightConnector1">
            <a:avLst/>
          </a:prstGeom>
          <a:ln w="12700">
            <a:solidFill>
              <a:schemeClr val="tx1">
                <a:lumMod val="50000"/>
                <a:lumOff val="50000"/>
              </a:schemeClr>
            </a:solidFill>
            <a:headEnd type="triangle"/>
            <a:tailEnd type="none"/>
          </a:ln>
        </p:spPr>
        <p:style>
          <a:lnRef idx="2">
            <a:schemeClr val="accent1"/>
          </a:lnRef>
          <a:fillRef idx="0">
            <a:schemeClr val="accent1"/>
          </a:fillRef>
          <a:effectRef idx="1">
            <a:schemeClr val="accent1"/>
          </a:effectRef>
          <a:fontRef idx="minor">
            <a:schemeClr val="tx1"/>
          </a:fontRef>
        </p:style>
      </p:cxnSp>
      <p:cxnSp>
        <p:nvCxnSpPr>
          <p:cNvPr id="180" name="直線矢印コネクタ 179">
            <a:extLst>
              <a:ext uri="{FF2B5EF4-FFF2-40B4-BE49-F238E27FC236}">
                <a16:creationId xmlns:a16="http://schemas.microsoft.com/office/drawing/2014/main" id="{DDCFA46A-128B-0809-E3AD-E3202EE746E1}"/>
              </a:ext>
            </a:extLst>
          </p:cNvPr>
          <p:cNvCxnSpPr>
            <a:cxnSpLocks/>
            <a:stCxn id="134" idx="1"/>
            <a:endCxn id="43" idx="1"/>
          </p:cNvCxnSpPr>
          <p:nvPr/>
        </p:nvCxnSpPr>
        <p:spPr>
          <a:xfrm flipV="1">
            <a:off x="9972035" y="3304596"/>
            <a:ext cx="775207" cy="264611"/>
          </a:xfrm>
          <a:prstGeom prst="straightConnector1">
            <a:avLst/>
          </a:prstGeom>
          <a:ln w="12700">
            <a:solidFill>
              <a:schemeClr val="tx1">
                <a:lumMod val="50000"/>
                <a:lumOff val="50000"/>
              </a:schemeClr>
            </a:solidFill>
            <a:headEnd type="triangle"/>
            <a:tailEnd type="none"/>
          </a:ln>
        </p:spPr>
        <p:style>
          <a:lnRef idx="2">
            <a:schemeClr val="accent1"/>
          </a:lnRef>
          <a:fillRef idx="0">
            <a:schemeClr val="accent1"/>
          </a:fillRef>
          <a:effectRef idx="1">
            <a:schemeClr val="accent1"/>
          </a:effectRef>
          <a:fontRef idx="minor">
            <a:schemeClr val="tx1"/>
          </a:fontRef>
        </p:style>
      </p:cxnSp>
      <p:sp>
        <p:nvSpPr>
          <p:cNvPr id="183" name="テキスト ボックス 182">
            <a:extLst>
              <a:ext uri="{FF2B5EF4-FFF2-40B4-BE49-F238E27FC236}">
                <a16:creationId xmlns:a16="http://schemas.microsoft.com/office/drawing/2014/main" id="{B0696159-F0E5-02C5-4B6B-A4733D0B8189}"/>
              </a:ext>
            </a:extLst>
          </p:cNvPr>
          <p:cNvSpPr txBox="1"/>
          <p:nvPr/>
        </p:nvSpPr>
        <p:spPr>
          <a:xfrm>
            <a:off x="10000478" y="5436581"/>
            <a:ext cx="1082348" cy="307777"/>
          </a:xfrm>
          <a:prstGeom prst="rect">
            <a:avLst/>
          </a:prstGeom>
          <a:noFill/>
        </p:spPr>
        <p:txBody>
          <a:bodyPr wrap="none" rtlCol="0">
            <a:spAutoFit/>
          </a:bodyPr>
          <a:lstStyle/>
          <a:p>
            <a:r>
              <a:rPr kumimoji="1" lang="ja-JP" altLang="en-US" sz="1400"/>
              <a:t>論文の収集</a:t>
            </a:r>
          </a:p>
        </p:txBody>
      </p:sp>
      <p:cxnSp>
        <p:nvCxnSpPr>
          <p:cNvPr id="184" name="直線矢印コネクタ 183">
            <a:extLst>
              <a:ext uri="{FF2B5EF4-FFF2-40B4-BE49-F238E27FC236}">
                <a16:creationId xmlns:a16="http://schemas.microsoft.com/office/drawing/2014/main" id="{9D01EA05-CACC-9898-F412-48A481068D18}"/>
              </a:ext>
            </a:extLst>
          </p:cNvPr>
          <p:cNvCxnSpPr>
            <a:cxnSpLocks/>
            <a:stCxn id="143" idx="1"/>
            <a:endCxn id="132" idx="3"/>
          </p:cNvCxnSpPr>
          <p:nvPr/>
        </p:nvCxnSpPr>
        <p:spPr>
          <a:xfrm>
            <a:off x="7852421" y="2211109"/>
            <a:ext cx="1161025" cy="848462"/>
          </a:xfrm>
          <a:prstGeom prst="straightConnector1">
            <a:avLst/>
          </a:prstGeom>
          <a:ln w="12700">
            <a:solidFill>
              <a:schemeClr val="accent1"/>
            </a:solidFill>
            <a:headEnd type="triangle"/>
            <a:tailEnd type="none"/>
          </a:ln>
        </p:spPr>
        <p:style>
          <a:lnRef idx="2">
            <a:schemeClr val="accent1"/>
          </a:lnRef>
          <a:fillRef idx="0">
            <a:schemeClr val="accent1"/>
          </a:fillRef>
          <a:effectRef idx="1">
            <a:schemeClr val="accent1"/>
          </a:effectRef>
          <a:fontRef idx="minor">
            <a:schemeClr val="tx1"/>
          </a:fontRef>
        </p:style>
      </p:cxnSp>
      <p:cxnSp>
        <p:nvCxnSpPr>
          <p:cNvPr id="187" name="直線矢印コネクタ 186">
            <a:extLst>
              <a:ext uri="{FF2B5EF4-FFF2-40B4-BE49-F238E27FC236}">
                <a16:creationId xmlns:a16="http://schemas.microsoft.com/office/drawing/2014/main" id="{AB917058-E1EF-02D4-01CA-FD384F4E47FA}"/>
              </a:ext>
            </a:extLst>
          </p:cNvPr>
          <p:cNvCxnSpPr>
            <a:cxnSpLocks/>
            <a:stCxn id="144" idx="1"/>
            <a:endCxn id="132" idx="3"/>
          </p:cNvCxnSpPr>
          <p:nvPr/>
        </p:nvCxnSpPr>
        <p:spPr>
          <a:xfrm>
            <a:off x="8004821" y="2363509"/>
            <a:ext cx="1008625" cy="696062"/>
          </a:xfrm>
          <a:prstGeom prst="straightConnector1">
            <a:avLst/>
          </a:prstGeom>
          <a:ln w="12700">
            <a:solidFill>
              <a:schemeClr val="accent1"/>
            </a:solidFill>
            <a:headEnd type="triangle"/>
            <a:tailEnd type="none"/>
          </a:ln>
        </p:spPr>
        <p:style>
          <a:lnRef idx="2">
            <a:schemeClr val="accent1"/>
          </a:lnRef>
          <a:fillRef idx="0">
            <a:schemeClr val="accent1"/>
          </a:fillRef>
          <a:effectRef idx="1">
            <a:schemeClr val="accent1"/>
          </a:effectRef>
          <a:fontRef idx="minor">
            <a:schemeClr val="tx1"/>
          </a:fontRef>
        </p:style>
      </p:cxnSp>
      <p:cxnSp>
        <p:nvCxnSpPr>
          <p:cNvPr id="190" name="直線矢印コネクタ 189">
            <a:extLst>
              <a:ext uri="{FF2B5EF4-FFF2-40B4-BE49-F238E27FC236}">
                <a16:creationId xmlns:a16="http://schemas.microsoft.com/office/drawing/2014/main" id="{3EF2AEC0-83B3-8AFB-9E74-D0D4C2AB4049}"/>
              </a:ext>
            </a:extLst>
          </p:cNvPr>
          <p:cNvCxnSpPr>
            <a:cxnSpLocks/>
            <a:stCxn id="145" idx="1"/>
            <a:endCxn id="132" idx="3"/>
          </p:cNvCxnSpPr>
          <p:nvPr/>
        </p:nvCxnSpPr>
        <p:spPr>
          <a:xfrm>
            <a:off x="8157221" y="2515909"/>
            <a:ext cx="856225" cy="543662"/>
          </a:xfrm>
          <a:prstGeom prst="straightConnector1">
            <a:avLst/>
          </a:prstGeom>
          <a:ln w="12700">
            <a:solidFill>
              <a:schemeClr val="accent1"/>
            </a:solidFill>
            <a:headEnd type="triangle"/>
            <a:tailEnd type="none"/>
          </a:ln>
        </p:spPr>
        <p:style>
          <a:lnRef idx="2">
            <a:schemeClr val="accent1"/>
          </a:lnRef>
          <a:fillRef idx="0">
            <a:schemeClr val="accent1"/>
          </a:fillRef>
          <a:effectRef idx="1">
            <a:schemeClr val="accent1"/>
          </a:effectRef>
          <a:fontRef idx="minor">
            <a:schemeClr val="tx1"/>
          </a:fontRef>
        </p:style>
      </p:cxnSp>
      <p:cxnSp>
        <p:nvCxnSpPr>
          <p:cNvPr id="193" name="直線矢印コネクタ 192">
            <a:extLst>
              <a:ext uri="{FF2B5EF4-FFF2-40B4-BE49-F238E27FC236}">
                <a16:creationId xmlns:a16="http://schemas.microsoft.com/office/drawing/2014/main" id="{CE1284C3-1B80-FAAA-8A21-2D8A696B6FA5}"/>
              </a:ext>
            </a:extLst>
          </p:cNvPr>
          <p:cNvCxnSpPr>
            <a:cxnSpLocks/>
            <a:stCxn id="146" idx="1"/>
            <a:endCxn id="133" idx="3"/>
          </p:cNvCxnSpPr>
          <p:nvPr/>
        </p:nvCxnSpPr>
        <p:spPr>
          <a:xfrm>
            <a:off x="7858124" y="3060398"/>
            <a:ext cx="1307722" cy="253991"/>
          </a:xfrm>
          <a:prstGeom prst="straightConnector1">
            <a:avLst/>
          </a:prstGeom>
          <a:ln w="12700">
            <a:solidFill>
              <a:schemeClr val="accent1"/>
            </a:solidFill>
            <a:headEnd type="triangle"/>
            <a:tailEnd type="none"/>
          </a:ln>
        </p:spPr>
        <p:style>
          <a:lnRef idx="2">
            <a:schemeClr val="accent1"/>
          </a:lnRef>
          <a:fillRef idx="0">
            <a:schemeClr val="accent1"/>
          </a:fillRef>
          <a:effectRef idx="1">
            <a:schemeClr val="accent1"/>
          </a:effectRef>
          <a:fontRef idx="minor">
            <a:schemeClr val="tx1"/>
          </a:fontRef>
        </p:style>
      </p:cxnSp>
      <p:cxnSp>
        <p:nvCxnSpPr>
          <p:cNvPr id="196" name="直線矢印コネクタ 195">
            <a:extLst>
              <a:ext uri="{FF2B5EF4-FFF2-40B4-BE49-F238E27FC236}">
                <a16:creationId xmlns:a16="http://schemas.microsoft.com/office/drawing/2014/main" id="{A29924AA-50F8-F1E6-395F-49175B6082FD}"/>
              </a:ext>
            </a:extLst>
          </p:cNvPr>
          <p:cNvCxnSpPr>
            <a:cxnSpLocks/>
            <a:stCxn id="147" idx="1"/>
            <a:endCxn id="133" idx="3"/>
          </p:cNvCxnSpPr>
          <p:nvPr/>
        </p:nvCxnSpPr>
        <p:spPr>
          <a:xfrm>
            <a:off x="8010524" y="3212798"/>
            <a:ext cx="1155322" cy="101591"/>
          </a:xfrm>
          <a:prstGeom prst="straightConnector1">
            <a:avLst/>
          </a:prstGeom>
          <a:ln w="12700">
            <a:solidFill>
              <a:schemeClr val="accent1"/>
            </a:solidFill>
            <a:headEnd type="triangle"/>
            <a:tailEnd type="none"/>
          </a:ln>
        </p:spPr>
        <p:style>
          <a:lnRef idx="2">
            <a:schemeClr val="accent1"/>
          </a:lnRef>
          <a:fillRef idx="0">
            <a:schemeClr val="accent1"/>
          </a:fillRef>
          <a:effectRef idx="1">
            <a:schemeClr val="accent1"/>
          </a:effectRef>
          <a:fontRef idx="minor">
            <a:schemeClr val="tx1"/>
          </a:fontRef>
        </p:style>
      </p:cxnSp>
      <p:cxnSp>
        <p:nvCxnSpPr>
          <p:cNvPr id="199" name="直線矢印コネクタ 198">
            <a:extLst>
              <a:ext uri="{FF2B5EF4-FFF2-40B4-BE49-F238E27FC236}">
                <a16:creationId xmlns:a16="http://schemas.microsoft.com/office/drawing/2014/main" id="{6A48FA3C-552A-374F-BBD1-E31E25F32683}"/>
              </a:ext>
            </a:extLst>
          </p:cNvPr>
          <p:cNvCxnSpPr>
            <a:cxnSpLocks/>
            <a:stCxn id="148" idx="1"/>
            <a:endCxn id="133" idx="3"/>
          </p:cNvCxnSpPr>
          <p:nvPr/>
        </p:nvCxnSpPr>
        <p:spPr>
          <a:xfrm flipV="1">
            <a:off x="8162924" y="3314389"/>
            <a:ext cx="1002922" cy="50809"/>
          </a:xfrm>
          <a:prstGeom prst="straightConnector1">
            <a:avLst/>
          </a:prstGeom>
          <a:ln w="12700">
            <a:solidFill>
              <a:schemeClr val="accent1"/>
            </a:solidFill>
            <a:headEnd type="triangle"/>
            <a:tailEnd type="none"/>
          </a:ln>
        </p:spPr>
        <p:style>
          <a:lnRef idx="2">
            <a:schemeClr val="accent1"/>
          </a:lnRef>
          <a:fillRef idx="0">
            <a:schemeClr val="accent1"/>
          </a:fillRef>
          <a:effectRef idx="1">
            <a:schemeClr val="accent1"/>
          </a:effectRef>
          <a:fontRef idx="minor">
            <a:schemeClr val="tx1"/>
          </a:fontRef>
        </p:style>
      </p:cxnSp>
      <p:cxnSp>
        <p:nvCxnSpPr>
          <p:cNvPr id="202" name="直線矢印コネクタ 201">
            <a:extLst>
              <a:ext uri="{FF2B5EF4-FFF2-40B4-BE49-F238E27FC236}">
                <a16:creationId xmlns:a16="http://schemas.microsoft.com/office/drawing/2014/main" id="{5F57978F-7650-828F-6A1E-65355C468F1E}"/>
              </a:ext>
            </a:extLst>
          </p:cNvPr>
          <p:cNvCxnSpPr>
            <a:cxnSpLocks/>
            <a:stCxn id="149" idx="1"/>
            <a:endCxn id="134" idx="3"/>
          </p:cNvCxnSpPr>
          <p:nvPr/>
        </p:nvCxnSpPr>
        <p:spPr>
          <a:xfrm flipV="1">
            <a:off x="7897645" y="3569207"/>
            <a:ext cx="1506769" cy="447610"/>
          </a:xfrm>
          <a:prstGeom prst="straightConnector1">
            <a:avLst/>
          </a:prstGeom>
          <a:ln w="12700">
            <a:solidFill>
              <a:schemeClr val="accent1"/>
            </a:solidFill>
            <a:headEnd type="triangle"/>
            <a:tailEnd type="none"/>
          </a:ln>
        </p:spPr>
        <p:style>
          <a:lnRef idx="2">
            <a:schemeClr val="accent1"/>
          </a:lnRef>
          <a:fillRef idx="0">
            <a:schemeClr val="accent1"/>
          </a:fillRef>
          <a:effectRef idx="1">
            <a:schemeClr val="accent1"/>
          </a:effectRef>
          <a:fontRef idx="minor">
            <a:schemeClr val="tx1"/>
          </a:fontRef>
        </p:style>
      </p:cxnSp>
      <p:sp>
        <p:nvSpPr>
          <p:cNvPr id="205" name="テキスト ボックス 204">
            <a:extLst>
              <a:ext uri="{FF2B5EF4-FFF2-40B4-BE49-F238E27FC236}">
                <a16:creationId xmlns:a16="http://schemas.microsoft.com/office/drawing/2014/main" id="{B9401085-F70B-81EE-9976-57D87A1DCFBA}"/>
              </a:ext>
            </a:extLst>
          </p:cNvPr>
          <p:cNvSpPr txBox="1"/>
          <p:nvPr/>
        </p:nvSpPr>
        <p:spPr>
          <a:xfrm>
            <a:off x="8130898" y="5320149"/>
            <a:ext cx="1485005" cy="523220"/>
          </a:xfrm>
          <a:prstGeom prst="rect">
            <a:avLst/>
          </a:prstGeom>
          <a:noFill/>
        </p:spPr>
        <p:txBody>
          <a:bodyPr wrap="square" rtlCol="0">
            <a:spAutoFit/>
          </a:bodyPr>
          <a:lstStyle/>
          <a:p>
            <a:r>
              <a:rPr lang="ja-JP" altLang="en-US" sz="1400"/>
              <a:t>研究リソースの抽出</a:t>
            </a:r>
            <a:endParaRPr kumimoji="1" lang="ja-JP" altLang="en-US" sz="1400"/>
          </a:p>
        </p:txBody>
      </p:sp>
      <p:sp>
        <p:nvSpPr>
          <p:cNvPr id="206" name="テキスト ボックス 205">
            <a:extLst>
              <a:ext uri="{FF2B5EF4-FFF2-40B4-BE49-F238E27FC236}">
                <a16:creationId xmlns:a16="http://schemas.microsoft.com/office/drawing/2014/main" id="{9ED5388C-70B5-A054-50B1-6848A1119F70}"/>
              </a:ext>
            </a:extLst>
          </p:cNvPr>
          <p:cNvSpPr txBox="1"/>
          <p:nvPr/>
        </p:nvSpPr>
        <p:spPr>
          <a:xfrm>
            <a:off x="6184838" y="5328076"/>
            <a:ext cx="1617008" cy="523220"/>
          </a:xfrm>
          <a:prstGeom prst="rect">
            <a:avLst/>
          </a:prstGeom>
          <a:noFill/>
        </p:spPr>
        <p:txBody>
          <a:bodyPr wrap="square" rtlCol="0">
            <a:spAutoFit/>
          </a:bodyPr>
          <a:lstStyle/>
          <a:p>
            <a:r>
              <a:rPr kumimoji="1" lang="en-US" altLang="ja-JP" sz="1400"/>
              <a:t>ID</a:t>
            </a:r>
            <a:r>
              <a:rPr kumimoji="1" lang="ja-JP" altLang="en-US" sz="1400"/>
              <a:t>の付与と関係性の整理</a:t>
            </a:r>
          </a:p>
        </p:txBody>
      </p:sp>
      <p:cxnSp>
        <p:nvCxnSpPr>
          <p:cNvPr id="207" name="直線矢印コネクタ 206">
            <a:extLst>
              <a:ext uri="{FF2B5EF4-FFF2-40B4-BE49-F238E27FC236}">
                <a16:creationId xmlns:a16="http://schemas.microsoft.com/office/drawing/2014/main" id="{84968783-D127-8ABE-5BF4-A858F96C7910}"/>
              </a:ext>
            </a:extLst>
          </p:cNvPr>
          <p:cNvCxnSpPr>
            <a:cxnSpLocks/>
            <a:stCxn id="150" idx="1"/>
            <a:endCxn id="134" idx="3"/>
          </p:cNvCxnSpPr>
          <p:nvPr/>
        </p:nvCxnSpPr>
        <p:spPr>
          <a:xfrm flipV="1">
            <a:off x="8050045" y="3569207"/>
            <a:ext cx="1354369" cy="600010"/>
          </a:xfrm>
          <a:prstGeom prst="straightConnector1">
            <a:avLst/>
          </a:prstGeom>
          <a:ln w="12700">
            <a:solidFill>
              <a:schemeClr val="accent1"/>
            </a:solidFill>
            <a:headEnd type="triangle"/>
            <a:tailEnd type="none"/>
          </a:ln>
        </p:spPr>
        <p:style>
          <a:lnRef idx="2">
            <a:schemeClr val="accent1"/>
          </a:lnRef>
          <a:fillRef idx="0">
            <a:schemeClr val="accent1"/>
          </a:fillRef>
          <a:effectRef idx="1">
            <a:schemeClr val="accent1"/>
          </a:effectRef>
          <a:fontRef idx="minor">
            <a:schemeClr val="tx1"/>
          </a:fontRef>
        </p:style>
      </p:cxnSp>
      <p:cxnSp>
        <p:nvCxnSpPr>
          <p:cNvPr id="210" name="直線矢印コネクタ 209">
            <a:extLst>
              <a:ext uri="{FF2B5EF4-FFF2-40B4-BE49-F238E27FC236}">
                <a16:creationId xmlns:a16="http://schemas.microsoft.com/office/drawing/2014/main" id="{136061FE-7BF7-942F-0013-B3506A5151B9}"/>
              </a:ext>
            </a:extLst>
          </p:cNvPr>
          <p:cNvCxnSpPr>
            <a:cxnSpLocks/>
            <a:stCxn id="151" idx="1"/>
            <a:endCxn id="134" idx="3"/>
          </p:cNvCxnSpPr>
          <p:nvPr/>
        </p:nvCxnSpPr>
        <p:spPr>
          <a:xfrm flipV="1">
            <a:off x="8202445" y="3569207"/>
            <a:ext cx="1201969" cy="752410"/>
          </a:xfrm>
          <a:prstGeom prst="straightConnector1">
            <a:avLst/>
          </a:prstGeom>
          <a:ln w="12700">
            <a:solidFill>
              <a:schemeClr val="accent1"/>
            </a:solidFill>
            <a:headEnd type="triangle"/>
            <a:tailEnd type="none"/>
          </a:ln>
        </p:spPr>
        <p:style>
          <a:lnRef idx="2">
            <a:schemeClr val="accent1"/>
          </a:lnRef>
          <a:fillRef idx="0">
            <a:schemeClr val="accent1"/>
          </a:fillRef>
          <a:effectRef idx="1">
            <a:schemeClr val="accent1"/>
          </a:effectRef>
          <a:fontRef idx="minor">
            <a:schemeClr val="tx1"/>
          </a:fontRef>
        </p:style>
      </p:cxnSp>
      <p:cxnSp>
        <p:nvCxnSpPr>
          <p:cNvPr id="213" name="直線矢印コネクタ 212">
            <a:extLst>
              <a:ext uri="{FF2B5EF4-FFF2-40B4-BE49-F238E27FC236}">
                <a16:creationId xmlns:a16="http://schemas.microsoft.com/office/drawing/2014/main" id="{E6021D07-1B24-5B08-15B7-572A5FA5A080}"/>
              </a:ext>
            </a:extLst>
          </p:cNvPr>
          <p:cNvCxnSpPr>
            <a:cxnSpLocks/>
            <a:stCxn id="64" idx="3"/>
            <a:endCxn id="143" idx="3"/>
          </p:cNvCxnSpPr>
          <p:nvPr/>
        </p:nvCxnSpPr>
        <p:spPr>
          <a:xfrm flipV="1">
            <a:off x="6141519" y="2211109"/>
            <a:ext cx="1143281" cy="2156490"/>
          </a:xfrm>
          <a:prstGeom prst="straightConnector1">
            <a:avLst/>
          </a:prstGeom>
          <a:ln w="12700">
            <a:solidFill>
              <a:schemeClr val="accent6"/>
            </a:solidFill>
            <a:headEnd type="triangle"/>
            <a:tailEnd type="none"/>
          </a:ln>
        </p:spPr>
        <p:style>
          <a:lnRef idx="2">
            <a:schemeClr val="accent1"/>
          </a:lnRef>
          <a:fillRef idx="0">
            <a:schemeClr val="accent1"/>
          </a:fillRef>
          <a:effectRef idx="1">
            <a:schemeClr val="accent1"/>
          </a:effectRef>
          <a:fontRef idx="minor">
            <a:schemeClr val="tx1"/>
          </a:fontRef>
        </p:style>
      </p:cxnSp>
      <p:cxnSp>
        <p:nvCxnSpPr>
          <p:cNvPr id="216" name="直線矢印コネクタ 215">
            <a:extLst>
              <a:ext uri="{FF2B5EF4-FFF2-40B4-BE49-F238E27FC236}">
                <a16:creationId xmlns:a16="http://schemas.microsoft.com/office/drawing/2014/main" id="{01AF2080-0A2F-BB30-33F4-1B0D01B524FE}"/>
              </a:ext>
            </a:extLst>
          </p:cNvPr>
          <p:cNvCxnSpPr>
            <a:cxnSpLocks/>
            <a:stCxn id="64" idx="3"/>
            <a:endCxn id="144" idx="3"/>
          </p:cNvCxnSpPr>
          <p:nvPr/>
        </p:nvCxnSpPr>
        <p:spPr>
          <a:xfrm flipV="1">
            <a:off x="6141519" y="2363509"/>
            <a:ext cx="1295681" cy="2004090"/>
          </a:xfrm>
          <a:prstGeom prst="straightConnector1">
            <a:avLst/>
          </a:prstGeom>
          <a:ln w="12700">
            <a:solidFill>
              <a:schemeClr val="accent6"/>
            </a:solidFill>
            <a:headEnd type="triangle"/>
            <a:tailEnd type="none"/>
          </a:ln>
        </p:spPr>
        <p:style>
          <a:lnRef idx="2">
            <a:schemeClr val="accent1"/>
          </a:lnRef>
          <a:fillRef idx="0">
            <a:schemeClr val="accent1"/>
          </a:fillRef>
          <a:effectRef idx="1">
            <a:schemeClr val="accent1"/>
          </a:effectRef>
          <a:fontRef idx="minor">
            <a:schemeClr val="tx1"/>
          </a:fontRef>
        </p:style>
      </p:cxnSp>
      <p:cxnSp>
        <p:nvCxnSpPr>
          <p:cNvPr id="219" name="直線矢印コネクタ 218">
            <a:extLst>
              <a:ext uri="{FF2B5EF4-FFF2-40B4-BE49-F238E27FC236}">
                <a16:creationId xmlns:a16="http://schemas.microsoft.com/office/drawing/2014/main" id="{06B12CE7-6AA2-FC98-1CC7-CA7D9497D8EC}"/>
              </a:ext>
            </a:extLst>
          </p:cNvPr>
          <p:cNvCxnSpPr>
            <a:cxnSpLocks/>
            <a:stCxn id="64" idx="3"/>
            <a:endCxn id="145" idx="3"/>
          </p:cNvCxnSpPr>
          <p:nvPr/>
        </p:nvCxnSpPr>
        <p:spPr>
          <a:xfrm flipV="1">
            <a:off x="6141519" y="2515909"/>
            <a:ext cx="1448081" cy="1851690"/>
          </a:xfrm>
          <a:prstGeom prst="straightConnector1">
            <a:avLst/>
          </a:prstGeom>
          <a:ln w="12700">
            <a:solidFill>
              <a:schemeClr val="accent6"/>
            </a:solidFill>
            <a:headEnd type="triangle"/>
            <a:tailEnd type="none"/>
          </a:ln>
        </p:spPr>
        <p:style>
          <a:lnRef idx="2">
            <a:schemeClr val="accent1"/>
          </a:lnRef>
          <a:fillRef idx="0">
            <a:schemeClr val="accent1"/>
          </a:fillRef>
          <a:effectRef idx="1">
            <a:schemeClr val="accent1"/>
          </a:effectRef>
          <a:fontRef idx="minor">
            <a:schemeClr val="tx1"/>
          </a:fontRef>
        </p:style>
      </p:cxnSp>
      <p:cxnSp>
        <p:nvCxnSpPr>
          <p:cNvPr id="222" name="直線矢印コネクタ 221">
            <a:extLst>
              <a:ext uri="{FF2B5EF4-FFF2-40B4-BE49-F238E27FC236}">
                <a16:creationId xmlns:a16="http://schemas.microsoft.com/office/drawing/2014/main" id="{103C796C-FFC4-0139-F570-538845E3B925}"/>
              </a:ext>
            </a:extLst>
          </p:cNvPr>
          <p:cNvCxnSpPr>
            <a:cxnSpLocks/>
            <a:stCxn id="64" idx="3"/>
            <a:endCxn id="146" idx="3"/>
          </p:cNvCxnSpPr>
          <p:nvPr/>
        </p:nvCxnSpPr>
        <p:spPr>
          <a:xfrm flipV="1">
            <a:off x="6141519" y="3060398"/>
            <a:ext cx="1148984" cy="1307201"/>
          </a:xfrm>
          <a:prstGeom prst="straightConnector1">
            <a:avLst/>
          </a:prstGeom>
          <a:ln w="12700">
            <a:solidFill>
              <a:schemeClr val="accent6"/>
            </a:solidFill>
            <a:headEnd type="triangle"/>
            <a:tailEnd type="none"/>
          </a:ln>
        </p:spPr>
        <p:style>
          <a:lnRef idx="2">
            <a:schemeClr val="accent1"/>
          </a:lnRef>
          <a:fillRef idx="0">
            <a:schemeClr val="accent1"/>
          </a:fillRef>
          <a:effectRef idx="1">
            <a:schemeClr val="accent1"/>
          </a:effectRef>
          <a:fontRef idx="minor">
            <a:schemeClr val="tx1"/>
          </a:fontRef>
        </p:style>
      </p:cxnSp>
      <p:cxnSp>
        <p:nvCxnSpPr>
          <p:cNvPr id="225" name="直線矢印コネクタ 224">
            <a:extLst>
              <a:ext uri="{FF2B5EF4-FFF2-40B4-BE49-F238E27FC236}">
                <a16:creationId xmlns:a16="http://schemas.microsoft.com/office/drawing/2014/main" id="{5E6A8914-0992-3FC7-2F8A-3E9C81ACC77F}"/>
              </a:ext>
            </a:extLst>
          </p:cNvPr>
          <p:cNvCxnSpPr>
            <a:cxnSpLocks/>
            <a:stCxn id="64" idx="3"/>
            <a:endCxn id="147" idx="3"/>
          </p:cNvCxnSpPr>
          <p:nvPr/>
        </p:nvCxnSpPr>
        <p:spPr>
          <a:xfrm flipV="1">
            <a:off x="6141519" y="3212798"/>
            <a:ext cx="1301384" cy="1154801"/>
          </a:xfrm>
          <a:prstGeom prst="straightConnector1">
            <a:avLst/>
          </a:prstGeom>
          <a:ln w="12700">
            <a:solidFill>
              <a:schemeClr val="accent6"/>
            </a:solidFill>
            <a:headEnd type="triangle"/>
            <a:tailEnd type="none"/>
          </a:ln>
        </p:spPr>
        <p:style>
          <a:lnRef idx="2">
            <a:schemeClr val="accent1"/>
          </a:lnRef>
          <a:fillRef idx="0">
            <a:schemeClr val="accent1"/>
          </a:fillRef>
          <a:effectRef idx="1">
            <a:schemeClr val="accent1"/>
          </a:effectRef>
          <a:fontRef idx="minor">
            <a:schemeClr val="tx1"/>
          </a:fontRef>
        </p:style>
      </p:cxnSp>
      <p:cxnSp>
        <p:nvCxnSpPr>
          <p:cNvPr id="228" name="直線矢印コネクタ 227">
            <a:extLst>
              <a:ext uri="{FF2B5EF4-FFF2-40B4-BE49-F238E27FC236}">
                <a16:creationId xmlns:a16="http://schemas.microsoft.com/office/drawing/2014/main" id="{A63BE33C-4AF7-5D46-11DB-F40361F03612}"/>
              </a:ext>
            </a:extLst>
          </p:cNvPr>
          <p:cNvCxnSpPr>
            <a:cxnSpLocks/>
            <a:stCxn id="64" idx="3"/>
            <a:endCxn id="148" idx="3"/>
          </p:cNvCxnSpPr>
          <p:nvPr/>
        </p:nvCxnSpPr>
        <p:spPr>
          <a:xfrm flipV="1">
            <a:off x="6141519" y="3365198"/>
            <a:ext cx="1453784" cy="1002401"/>
          </a:xfrm>
          <a:prstGeom prst="straightConnector1">
            <a:avLst/>
          </a:prstGeom>
          <a:ln w="12700">
            <a:solidFill>
              <a:schemeClr val="accent6"/>
            </a:solidFill>
            <a:headEnd type="triangle"/>
            <a:tailEnd type="none"/>
          </a:ln>
        </p:spPr>
        <p:style>
          <a:lnRef idx="2">
            <a:schemeClr val="accent1"/>
          </a:lnRef>
          <a:fillRef idx="0">
            <a:schemeClr val="accent1"/>
          </a:fillRef>
          <a:effectRef idx="1">
            <a:schemeClr val="accent1"/>
          </a:effectRef>
          <a:fontRef idx="minor">
            <a:schemeClr val="tx1"/>
          </a:fontRef>
        </p:style>
      </p:cxnSp>
      <p:cxnSp>
        <p:nvCxnSpPr>
          <p:cNvPr id="231" name="直線矢印コネクタ 230">
            <a:extLst>
              <a:ext uri="{FF2B5EF4-FFF2-40B4-BE49-F238E27FC236}">
                <a16:creationId xmlns:a16="http://schemas.microsoft.com/office/drawing/2014/main" id="{18518219-9D48-F8F0-C0C2-37FFA644C9B4}"/>
              </a:ext>
            </a:extLst>
          </p:cNvPr>
          <p:cNvCxnSpPr>
            <a:cxnSpLocks/>
            <a:stCxn id="64" idx="3"/>
            <a:endCxn id="149" idx="3"/>
          </p:cNvCxnSpPr>
          <p:nvPr/>
        </p:nvCxnSpPr>
        <p:spPr>
          <a:xfrm flipV="1">
            <a:off x="6141519" y="4016817"/>
            <a:ext cx="1188505" cy="350782"/>
          </a:xfrm>
          <a:prstGeom prst="straightConnector1">
            <a:avLst/>
          </a:prstGeom>
          <a:ln w="12700">
            <a:solidFill>
              <a:schemeClr val="accent6"/>
            </a:solidFill>
            <a:headEnd type="triangle"/>
            <a:tailEnd type="none"/>
          </a:ln>
        </p:spPr>
        <p:style>
          <a:lnRef idx="2">
            <a:schemeClr val="accent1"/>
          </a:lnRef>
          <a:fillRef idx="0">
            <a:schemeClr val="accent1"/>
          </a:fillRef>
          <a:effectRef idx="1">
            <a:schemeClr val="accent1"/>
          </a:effectRef>
          <a:fontRef idx="minor">
            <a:schemeClr val="tx1"/>
          </a:fontRef>
        </p:style>
      </p:cxnSp>
      <p:cxnSp>
        <p:nvCxnSpPr>
          <p:cNvPr id="234" name="直線矢印コネクタ 233">
            <a:extLst>
              <a:ext uri="{FF2B5EF4-FFF2-40B4-BE49-F238E27FC236}">
                <a16:creationId xmlns:a16="http://schemas.microsoft.com/office/drawing/2014/main" id="{F1479458-1574-4260-F86C-0E92CF477A23}"/>
              </a:ext>
            </a:extLst>
          </p:cNvPr>
          <p:cNvCxnSpPr>
            <a:cxnSpLocks/>
            <a:stCxn id="64" idx="3"/>
            <a:endCxn id="150" idx="3"/>
          </p:cNvCxnSpPr>
          <p:nvPr/>
        </p:nvCxnSpPr>
        <p:spPr>
          <a:xfrm flipV="1">
            <a:off x="6141519" y="4169217"/>
            <a:ext cx="1340905" cy="198382"/>
          </a:xfrm>
          <a:prstGeom prst="straightConnector1">
            <a:avLst/>
          </a:prstGeom>
          <a:ln w="12700">
            <a:solidFill>
              <a:schemeClr val="accent6"/>
            </a:solidFill>
            <a:headEnd type="triangle"/>
            <a:tailEnd type="none"/>
          </a:ln>
        </p:spPr>
        <p:style>
          <a:lnRef idx="2">
            <a:schemeClr val="accent1"/>
          </a:lnRef>
          <a:fillRef idx="0">
            <a:schemeClr val="accent1"/>
          </a:fillRef>
          <a:effectRef idx="1">
            <a:schemeClr val="accent1"/>
          </a:effectRef>
          <a:fontRef idx="minor">
            <a:schemeClr val="tx1"/>
          </a:fontRef>
        </p:style>
      </p:cxnSp>
      <p:cxnSp>
        <p:nvCxnSpPr>
          <p:cNvPr id="237" name="直線矢印コネクタ 236">
            <a:extLst>
              <a:ext uri="{FF2B5EF4-FFF2-40B4-BE49-F238E27FC236}">
                <a16:creationId xmlns:a16="http://schemas.microsoft.com/office/drawing/2014/main" id="{D3522786-D8B0-3DC9-90AB-CEE583236595}"/>
              </a:ext>
            </a:extLst>
          </p:cNvPr>
          <p:cNvCxnSpPr>
            <a:cxnSpLocks/>
            <a:stCxn id="64" idx="3"/>
            <a:endCxn id="151" idx="3"/>
          </p:cNvCxnSpPr>
          <p:nvPr/>
        </p:nvCxnSpPr>
        <p:spPr>
          <a:xfrm flipV="1">
            <a:off x="6141519" y="4321617"/>
            <a:ext cx="1493305" cy="45982"/>
          </a:xfrm>
          <a:prstGeom prst="straightConnector1">
            <a:avLst/>
          </a:prstGeom>
          <a:ln w="12700">
            <a:solidFill>
              <a:schemeClr val="accent6"/>
            </a:solidFill>
            <a:headEnd type="triangle"/>
            <a:tailEnd type="none"/>
          </a:ln>
        </p:spPr>
        <p:style>
          <a:lnRef idx="2">
            <a:schemeClr val="accent1"/>
          </a:lnRef>
          <a:fillRef idx="0">
            <a:schemeClr val="accent1"/>
          </a:fillRef>
          <a:effectRef idx="1">
            <a:schemeClr val="accent1"/>
          </a:effectRef>
          <a:fontRef idx="minor">
            <a:schemeClr val="tx1"/>
          </a:fontRef>
        </p:style>
      </p:cxnSp>
      <p:sp>
        <p:nvSpPr>
          <p:cNvPr id="241" name="テキスト ボックス 240">
            <a:extLst>
              <a:ext uri="{FF2B5EF4-FFF2-40B4-BE49-F238E27FC236}">
                <a16:creationId xmlns:a16="http://schemas.microsoft.com/office/drawing/2014/main" id="{0F52ECEE-CAD1-B75E-9F0B-DC0442BF1448}"/>
              </a:ext>
            </a:extLst>
          </p:cNvPr>
          <p:cNvSpPr txBox="1"/>
          <p:nvPr/>
        </p:nvSpPr>
        <p:spPr>
          <a:xfrm>
            <a:off x="3526079" y="5343906"/>
            <a:ext cx="2332797" cy="523220"/>
          </a:xfrm>
          <a:prstGeom prst="rect">
            <a:avLst/>
          </a:prstGeom>
          <a:noFill/>
        </p:spPr>
        <p:txBody>
          <a:bodyPr wrap="square" rtlCol="0">
            <a:spAutoFit/>
          </a:bodyPr>
          <a:lstStyle/>
          <a:p>
            <a:r>
              <a:rPr lang="ja-JP" altLang="en-US" sz="1400"/>
              <a:t>任意条件による関係の選択と知識グラフの構築</a:t>
            </a:r>
            <a:endParaRPr kumimoji="1" lang="ja-JP" altLang="en-US" sz="1400"/>
          </a:p>
        </p:txBody>
      </p:sp>
      <p:cxnSp>
        <p:nvCxnSpPr>
          <p:cNvPr id="245" name="直線矢印コネクタ 244">
            <a:extLst>
              <a:ext uri="{FF2B5EF4-FFF2-40B4-BE49-F238E27FC236}">
                <a16:creationId xmlns:a16="http://schemas.microsoft.com/office/drawing/2014/main" id="{7C0B0434-5D17-4CC4-673B-8927B5D06AE4}"/>
              </a:ext>
            </a:extLst>
          </p:cNvPr>
          <p:cNvCxnSpPr>
            <a:cxnSpLocks/>
            <a:stCxn id="159" idx="3"/>
            <a:endCxn id="143" idx="3"/>
          </p:cNvCxnSpPr>
          <p:nvPr/>
        </p:nvCxnSpPr>
        <p:spPr>
          <a:xfrm flipV="1">
            <a:off x="6139520" y="2211109"/>
            <a:ext cx="1145280" cy="4671"/>
          </a:xfrm>
          <a:prstGeom prst="straightConnector1">
            <a:avLst/>
          </a:prstGeom>
          <a:ln w="12700">
            <a:solidFill>
              <a:schemeClr val="accent6"/>
            </a:solidFill>
            <a:headEnd type="triangle"/>
            <a:tailEnd type="none"/>
          </a:ln>
        </p:spPr>
        <p:style>
          <a:lnRef idx="2">
            <a:schemeClr val="accent1"/>
          </a:lnRef>
          <a:fillRef idx="0">
            <a:schemeClr val="accent1"/>
          </a:fillRef>
          <a:effectRef idx="1">
            <a:schemeClr val="accent1"/>
          </a:effectRef>
          <a:fontRef idx="minor">
            <a:schemeClr val="tx1"/>
          </a:fontRef>
        </p:style>
      </p:cxnSp>
      <p:cxnSp>
        <p:nvCxnSpPr>
          <p:cNvPr id="248" name="直線矢印コネクタ 247">
            <a:extLst>
              <a:ext uri="{FF2B5EF4-FFF2-40B4-BE49-F238E27FC236}">
                <a16:creationId xmlns:a16="http://schemas.microsoft.com/office/drawing/2014/main" id="{3C1E0ECB-94F4-0002-14DE-F06F48F24ADF}"/>
              </a:ext>
            </a:extLst>
          </p:cNvPr>
          <p:cNvCxnSpPr>
            <a:cxnSpLocks/>
            <a:stCxn id="159" idx="3"/>
            <a:endCxn id="144" idx="3"/>
          </p:cNvCxnSpPr>
          <p:nvPr/>
        </p:nvCxnSpPr>
        <p:spPr>
          <a:xfrm>
            <a:off x="6139520" y="2215780"/>
            <a:ext cx="1297680" cy="147729"/>
          </a:xfrm>
          <a:prstGeom prst="straightConnector1">
            <a:avLst/>
          </a:prstGeom>
          <a:ln w="12700">
            <a:solidFill>
              <a:schemeClr val="accent6"/>
            </a:solidFill>
            <a:headEnd type="triangle"/>
            <a:tailEnd type="none"/>
          </a:ln>
        </p:spPr>
        <p:style>
          <a:lnRef idx="2">
            <a:schemeClr val="accent1"/>
          </a:lnRef>
          <a:fillRef idx="0">
            <a:schemeClr val="accent1"/>
          </a:fillRef>
          <a:effectRef idx="1">
            <a:schemeClr val="accent1"/>
          </a:effectRef>
          <a:fontRef idx="minor">
            <a:schemeClr val="tx1"/>
          </a:fontRef>
        </p:style>
      </p:cxnSp>
      <p:cxnSp>
        <p:nvCxnSpPr>
          <p:cNvPr id="251" name="直線矢印コネクタ 250">
            <a:extLst>
              <a:ext uri="{FF2B5EF4-FFF2-40B4-BE49-F238E27FC236}">
                <a16:creationId xmlns:a16="http://schemas.microsoft.com/office/drawing/2014/main" id="{E0416E33-7C4A-4236-02F5-F6B50010349F}"/>
              </a:ext>
            </a:extLst>
          </p:cNvPr>
          <p:cNvCxnSpPr>
            <a:cxnSpLocks/>
            <a:stCxn id="159" idx="3"/>
            <a:endCxn id="145" idx="3"/>
          </p:cNvCxnSpPr>
          <p:nvPr/>
        </p:nvCxnSpPr>
        <p:spPr>
          <a:xfrm>
            <a:off x="6139520" y="2215780"/>
            <a:ext cx="1450080" cy="300129"/>
          </a:xfrm>
          <a:prstGeom prst="straightConnector1">
            <a:avLst/>
          </a:prstGeom>
          <a:ln w="12700">
            <a:solidFill>
              <a:schemeClr val="accent6"/>
            </a:solidFill>
            <a:headEnd type="triangle"/>
            <a:tailEnd type="none"/>
          </a:ln>
        </p:spPr>
        <p:style>
          <a:lnRef idx="2">
            <a:schemeClr val="accent1"/>
          </a:lnRef>
          <a:fillRef idx="0">
            <a:schemeClr val="accent1"/>
          </a:fillRef>
          <a:effectRef idx="1">
            <a:schemeClr val="accent1"/>
          </a:effectRef>
          <a:fontRef idx="minor">
            <a:schemeClr val="tx1"/>
          </a:fontRef>
        </p:style>
      </p:cxnSp>
      <p:cxnSp>
        <p:nvCxnSpPr>
          <p:cNvPr id="254" name="直線矢印コネクタ 253">
            <a:extLst>
              <a:ext uri="{FF2B5EF4-FFF2-40B4-BE49-F238E27FC236}">
                <a16:creationId xmlns:a16="http://schemas.microsoft.com/office/drawing/2014/main" id="{11672707-9A68-5C5D-B068-3BEAA0647369}"/>
              </a:ext>
            </a:extLst>
          </p:cNvPr>
          <p:cNvCxnSpPr>
            <a:cxnSpLocks/>
            <a:stCxn id="159" idx="3"/>
            <a:endCxn id="146" idx="3"/>
          </p:cNvCxnSpPr>
          <p:nvPr/>
        </p:nvCxnSpPr>
        <p:spPr>
          <a:xfrm>
            <a:off x="6139520" y="2215780"/>
            <a:ext cx="1150983" cy="844618"/>
          </a:xfrm>
          <a:prstGeom prst="straightConnector1">
            <a:avLst/>
          </a:prstGeom>
          <a:ln w="12700">
            <a:solidFill>
              <a:schemeClr val="accent6"/>
            </a:solidFill>
            <a:headEnd type="triangle"/>
            <a:tailEnd type="none"/>
          </a:ln>
        </p:spPr>
        <p:style>
          <a:lnRef idx="2">
            <a:schemeClr val="accent1"/>
          </a:lnRef>
          <a:fillRef idx="0">
            <a:schemeClr val="accent1"/>
          </a:fillRef>
          <a:effectRef idx="1">
            <a:schemeClr val="accent1"/>
          </a:effectRef>
          <a:fontRef idx="minor">
            <a:schemeClr val="tx1"/>
          </a:fontRef>
        </p:style>
      </p:cxnSp>
      <p:cxnSp>
        <p:nvCxnSpPr>
          <p:cNvPr id="257" name="直線矢印コネクタ 256">
            <a:extLst>
              <a:ext uri="{FF2B5EF4-FFF2-40B4-BE49-F238E27FC236}">
                <a16:creationId xmlns:a16="http://schemas.microsoft.com/office/drawing/2014/main" id="{3EF622B1-8549-C00B-3968-827B7F865346}"/>
              </a:ext>
            </a:extLst>
          </p:cNvPr>
          <p:cNvCxnSpPr>
            <a:cxnSpLocks/>
            <a:stCxn id="159" idx="3"/>
            <a:endCxn id="147" idx="3"/>
          </p:cNvCxnSpPr>
          <p:nvPr/>
        </p:nvCxnSpPr>
        <p:spPr>
          <a:xfrm>
            <a:off x="6139520" y="2215780"/>
            <a:ext cx="1303383" cy="997018"/>
          </a:xfrm>
          <a:prstGeom prst="straightConnector1">
            <a:avLst/>
          </a:prstGeom>
          <a:ln w="12700">
            <a:solidFill>
              <a:schemeClr val="accent6"/>
            </a:solidFill>
            <a:headEnd type="triangle"/>
            <a:tailEnd type="none"/>
          </a:ln>
        </p:spPr>
        <p:style>
          <a:lnRef idx="2">
            <a:schemeClr val="accent1"/>
          </a:lnRef>
          <a:fillRef idx="0">
            <a:schemeClr val="accent1"/>
          </a:fillRef>
          <a:effectRef idx="1">
            <a:schemeClr val="accent1"/>
          </a:effectRef>
          <a:fontRef idx="minor">
            <a:schemeClr val="tx1"/>
          </a:fontRef>
        </p:style>
      </p:cxnSp>
      <p:cxnSp>
        <p:nvCxnSpPr>
          <p:cNvPr id="260" name="直線矢印コネクタ 259">
            <a:extLst>
              <a:ext uri="{FF2B5EF4-FFF2-40B4-BE49-F238E27FC236}">
                <a16:creationId xmlns:a16="http://schemas.microsoft.com/office/drawing/2014/main" id="{E1531AEB-DD26-1A7F-20AD-24C17EEB6463}"/>
              </a:ext>
            </a:extLst>
          </p:cNvPr>
          <p:cNvCxnSpPr>
            <a:cxnSpLocks/>
            <a:stCxn id="159" idx="3"/>
            <a:endCxn id="148" idx="3"/>
          </p:cNvCxnSpPr>
          <p:nvPr/>
        </p:nvCxnSpPr>
        <p:spPr>
          <a:xfrm>
            <a:off x="6139520" y="2215780"/>
            <a:ext cx="1455783" cy="1149418"/>
          </a:xfrm>
          <a:prstGeom prst="straightConnector1">
            <a:avLst/>
          </a:prstGeom>
          <a:ln w="12700">
            <a:solidFill>
              <a:schemeClr val="accent6"/>
            </a:solidFill>
            <a:headEnd type="triangle"/>
            <a:tailEnd type="none"/>
          </a:ln>
        </p:spPr>
        <p:style>
          <a:lnRef idx="2">
            <a:schemeClr val="accent1"/>
          </a:lnRef>
          <a:fillRef idx="0">
            <a:schemeClr val="accent1"/>
          </a:fillRef>
          <a:effectRef idx="1">
            <a:schemeClr val="accent1"/>
          </a:effectRef>
          <a:fontRef idx="minor">
            <a:schemeClr val="tx1"/>
          </a:fontRef>
        </p:style>
      </p:cxnSp>
      <p:cxnSp>
        <p:nvCxnSpPr>
          <p:cNvPr id="263" name="直線矢印コネクタ 262">
            <a:extLst>
              <a:ext uri="{FF2B5EF4-FFF2-40B4-BE49-F238E27FC236}">
                <a16:creationId xmlns:a16="http://schemas.microsoft.com/office/drawing/2014/main" id="{E3098670-5044-AE47-54AE-172E30BB6AA8}"/>
              </a:ext>
            </a:extLst>
          </p:cNvPr>
          <p:cNvCxnSpPr>
            <a:cxnSpLocks/>
            <a:stCxn id="159" idx="3"/>
            <a:endCxn id="149" idx="3"/>
          </p:cNvCxnSpPr>
          <p:nvPr/>
        </p:nvCxnSpPr>
        <p:spPr>
          <a:xfrm>
            <a:off x="6139520" y="2215780"/>
            <a:ext cx="1190504" cy="1801037"/>
          </a:xfrm>
          <a:prstGeom prst="straightConnector1">
            <a:avLst/>
          </a:prstGeom>
          <a:ln w="12700">
            <a:solidFill>
              <a:schemeClr val="accent6"/>
            </a:solidFill>
            <a:headEnd type="triangle"/>
            <a:tailEnd type="none"/>
          </a:ln>
        </p:spPr>
        <p:style>
          <a:lnRef idx="2">
            <a:schemeClr val="accent1"/>
          </a:lnRef>
          <a:fillRef idx="0">
            <a:schemeClr val="accent1"/>
          </a:fillRef>
          <a:effectRef idx="1">
            <a:schemeClr val="accent1"/>
          </a:effectRef>
          <a:fontRef idx="minor">
            <a:schemeClr val="tx1"/>
          </a:fontRef>
        </p:style>
      </p:cxnSp>
      <p:cxnSp>
        <p:nvCxnSpPr>
          <p:cNvPr id="266" name="直線矢印コネクタ 265">
            <a:extLst>
              <a:ext uri="{FF2B5EF4-FFF2-40B4-BE49-F238E27FC236}">
                <a16:creationId xmlns:a16="http://schemas.microsoft.com/office/drawing/2014/main" id="{B65DD127-6612-2F01-9551-B759E55F2DF7}"/>
              </a:ext>
            </a:extLst>
          </p:cNvPr>
          <p:cNvCxnSpPr>
            <a:cxnSpLocks/>
            <a:stCxn id="159" idx="3"/>
            <a:endCxn id="150" idx="3"/>
          </p:cNvCxnSpPr>
          <p:nvPr/>
        </p:nvCxnSpPr>
        <p:spPr>
          <a:xfrm>
            <a:off x="6139520" y="2215780"/>
            <a:ext cx="1342904" cy="1953437"/>
          </a:xfrm>
          <a:prstGeom prst="straightConnector1">
            <a:avLst/>
          </a:prstGeom>
          <a:ln w="12700">
            <a:solidFill>
              <a:schemeClr val="accent6"/>
            </a:solidFill>
            <a:headEnd type="triangle"/>
            <a:tailEnd type="none"/>
          </a:ln>
        </p:spPr>
        <p:style>
          <a:lnRef idx="2">
            <a:schemeClr val="accent1"/>
          </a:lnRef>
          <a:fillRef idx="0">
            <a:schemeClr val="accent1"/>
          </a:fillRef>
          <a:effectRef idx="1">
            <a:schemeClr val="accent1"/>
          </a:effectRef>
          <a:fontRef idx="minor">
            <a:schemeClr val="tx1"/>
          </a:fontRef>
        </p:style>
      </p:cxnSp>
      <p:cxnSp>
        <p:nvCxnSpPr>
          <p:cNvPr id="269" name="直線矢印コネクタ 268">
            <a:extLst>
              <a:ext uri="{FF2B5EF4-FFF2-40B4-BE49-F238E27FC236}">
                <a16:creationId xmlns:a16="http://schemas.microsoft.com/office/drawing/2014/main" id="{8925C3C4-9C9F-6D08-6E18-55F0C10EBA48}"/>
              </a:ext>
            </a:extLst>
          </p:cNvPr>
          <p:cNvCxnSpPr>
            <a:cxnSpLocks/>
            <a:stCxn id="159" idx="3"/>
            <a:endCxn id="151" idx="3"/>
          </p:cNvCxnSpPr>
          <p:nvPr/>
        </p:nvCxnSpPr>
        <p:spPr>
          <a:xfrm>
            <a:off x="6139520" y="2215780"/>
            <a:ext cx="1495304" cy="2105837"/>
          </a:xfrm>
          <a:prstGeom prst="straightConnector1">
            <a:avLst/>
          </a:prstGeom>
          <a:ln w="12700">
            <a:solidFill>
              <a:schemeClr val="accent6"/>
            </a:solidFill>
            <a:headEnd type="triangle"/>
            <a:tailEnd type="none"/>
          </a:ln>
        </p:spPr>
        <p:style>
          <a:lnRef idx="2">
            <a:schemeClr val="accent1"/>
          </a:lnRef>
          <a:fillRef idx="0">
            <a:schemeClr val="accent1"/>
          </a:fillRef>
          <a:effectRef idx="1">
            <a:schemeClr val="accent1"/>
          </a:effectRef>
          <a:fontRef idx="minor">
            <a:schemeClr val="tx1"/>
          </a:fontRef>
        </p:style>
      </p:cxnSp>
      <p:sp>
        <p:nvSpPr>
          <p:cNvPr id="4" name="テキスト ボックス 3">
            <a:extLst>
              <a:ext uri="{FF2B5EF4-FFF2-40B4-BE49-F238E27FC236}">
                <a16:creationId xmlns:a16="http://schemas.microsoft.com/office/drawing/2014/main" id="{9C8C8AA2-4747-FAAC-B568-24BE1103F220}"/>
              </a:ext>
            </a:extLst>
          </p:cNvPr>
          <p:cNvSpPr txBox="1"/>
          <p:nvPr/>
        </p:nvSpPr>
        <p:spPr>
          <a:xfrm>
            <a:off x="8124065" y="5851296"/>
            <a:ext cx="1483129" cy="507831"/>
          </a:xfrm>
          <a:prstGeom prst="rect">
            <a:avLst/>
          </a:prstGeom>
          <a:noFill/>
        </p:spPr>
        <p:txBody>
          <a:bodyPr wrap="square" rtlCol="0">
            <a:spAutoFit/>
          </a:bodyPr>
          <a:lstStyle/>
          <a:p>
            <a:r>
              <a:rPr kumimoji="1" lang="ja-JP" altLang="en-US" sz="900"/>
              <a:t>対象は「固有名詞」。人、組織、バイオリソース、設備、機材等。</a:t>
            </a:r>
          </a:p>
        </p:txBody>
      </p:sp>
      <p:sp>
        <p:nvSpPr>
          <p:cNvPr id="10" name="テキスト ボックス 9">
            <a:extLst>
              <a:ext uri="{FF2B5EF4-FFF2-40B4-BE49-F238E27FC236}">
                <a16:creationId xmlns:a16="http://schemas.microsoft.com/office/drawing/2014/main" id="{DF013EC7-1A0B-1F7F-BF43-D5C6CD65EC9E}"/>
              </a:ext>
            </a:extLst>
          </p:cNvPr>
          <p:cNvSpPr txBox="1"/>
          <p:nvPr/>
        </p:nvSpPr>
        <p:spPr>
          <a:xfrm>
            <a:off x="9902363" y="5840075"/>
            <a:ext cx="1485004" cy="507831"/>
          </a:xfrm>
          <a:prstGeom prst="rect">
            <a:avLst/>
          </a:prstGeom>
          <a:noFill/>
        </p:spPr>
        <p:txBody>
          <a:bodyPr wrap="square" rtlCol="0">
            <a:spAutoFit/>
          </a:bodyPr>
          <a:lstStyle/>
          <a:p>
            <a:r>
              <a:rPr lang="ja-JP" altLang="en-US" sz="900"/>
              <a:t>まずは鹿大から。九州</a:t>
            </a:r>
            <a:r>
              <a:rPr lang="en-US" altLang="ja-JP" sz="900"/>
              <a:t>/</a:t>
            </a:r>
            <a:r>
              <a:rPr lang="ja-JP" altLang="en-US" sz="900"/>
              <a:t>西日本</a:t>
            </a:r>
            <a:r>
              <a:rPr lang="en-US" altLang="ja-JP" sz="900"/>
              <a:t>/</a:t>
            </a:r>
            <a:r>
              <a:rPr lang="ja-JP" altLang="en-US" sz="900"/>
              <a:t>全国の国大へと可能な限り拡張する。</a:t>
            </a:r>
            <a:endParaRPr kumimoji="1" lang="ja-JP" altLang="en-US" sz="900"/>
          </a:p>
        </p:txBody>
      </p:sp>
      <p:sp>
        <p:nvSpPr>
          <p:cNvPr id="11" name="テキスト ボックス 10">
            <a:extLst>
              <a:ext uri="{FF2B5EF4-FFF2-40B4-BE49-F238E27FC236}">
                <a16:creationId xmlns:a16="http://schemas.microsoft.com/office/drawing/2014/main" id="{F6199837-FE45-6E4C-9EA9-5E1C696CC71E}"/>
              </a:ext>
            </a:extLst>
          </p:cNvPr>
          <p:cNvSpPr txBox="1"/>
          <p:nvPr/>
        </p:nvSpPr>
        <p:spPr>
          <a:xfrm>
            <a:off x="6200483" y="5884566"/>
            <a:ext cx="1645582" cy="507831"/>
          </a:xfrm>
          <a:prstGeom prst="rect">
            <a:avLst/>
          </a:prstGeom>
          <a:noFill/>
        </p:spPr>
        <p:txBody>
          <a:bodyPr wrap="square" rtlCol="0">
            <a:spAutoFit/>
          </a:bodyPr>
          <a:lstStyle/>
          <a:p>
            <a:r>
              <a:rPr lang="ja-JP" altLang="en-US" sz="900"/>
              <a:t>抽出された</a:t>
            </a:r>
            <a:r>
              <a:rPr kumimoji="1" lang="ja-JP" altLang="en-US" sz="900"/>
              <a:t>「固有名詞」間の関係をあらためて文章から分析・整理・記録する。</a:t>
            </a:r>
          </a:p>
        </p:txBody>
      </p:sp>
      <p:sp>
        <p:nvSpPr>
          <p:cNvPr id="19" name="テキスト ボックス 18">
            <a:extLst>
              <a:ext uri="{FF2B5EF4-FFF2-40B4-BE49-F238E27FC236}">
                <a16:creationId xmlns:a16="http://schemas.microsoft.com/office/drawing/2014/main" id="{7A8F3485-355F-D778-900A-02ECFAACFDD8}"/>
              </a:ext>
            </a:extLst>
          </p:cNvPr>
          <p:cNvSpPr txBox="1"/>
          <p:nvPr/>
        </p:nvSpPr>
        <p:spPr>
          <a:xfrm>
            <a:off x="3566139" y="5932463"/>
            <a:ext cx="2259904" cy="507831"/>
          </a:xfrm>
          <a:prstGeom prst="rect">
            <a:avLst/>
          </a:prstGeom>
          <a:noFill/>
        </p:spPr>
        <p:txBody>
          <a:bodyPr wrap="square" rtlCol="0">
            <a:spAutoFit/>
          </a:bodyPr>
          <a:lstStyle/>
          <a:p>
            <a:r>
              <a:rPr kumimoji="1" lang="ja-JP" altLang="en-US" sz="900"/>
              <a:t>全ての関係性をグラフにすると複雑になりすぎる可能性がるため、必要な関係性の検索（抽出）機能を装備する。</a:t>
            </a:r>
          </a:p>
        </p:txBody>
      </p:sp>
      <p:sp>
        <p:nvSpPr>
          <p:cNvPr id="20" name="テキスト ボックス 19">
            <a:extLst>
              <a:ext uri="{FF2B5EF4-FFF2-40B4-BE49-F238E27FC236}">
                <a16:creationId xmlns:a16="http://schemas.microsoft.com/office/drawing/2014/main" id="{E51F826D-E03B-C6E9-B8C4-983046581A50}"/>
              </a:ext>
            </a:extLst>
          </p:cNvPr>
          <p:cNvSpPr txBox="1"/>
          <p:nvPr/>
        </p:nvSpPr>
        <p:spPr>
          <a:xfrm>
            <a:off x="1227440" y="5957692"/>
            <a:ext cx="1742853" cy="507831"/>
          </a:xfrm>
          <a:prstGeom prst="rect">
            <a:avLst/>
          </a:prstGeom>
          <a:noFill/>
        </p:spPr>
        <p:txBody>
          <a:bodyPr wrap="square" rtlCol="0">
            <a:spAutoFit/>
          </a:bodyPr>
          <a:lstStyle/>
          <a:p>
            <a:r>
              <a:rPr kumimoji="1" lang="ja-JP" altLang="en-US" sz="900"/>
              <a:t>同じ表現でも異なる対象を示す場合があるため、グラフのノードは</a:t>
            </a:r>
            <a:r>
              <a:rPr kumimoji="1" lang="en-US" altLang="ja-JP" sz="900"/>
              <a:t>ID</a:t>
            </a:r>
            <a:r>
              <a:rPr kumimoji="1" lang="ja-JP" altLang="en-US" sz="900"/>
              <a:t>管理する。</a:t>
            </a:r>
          </a:p>
        </p:txBody>
      </p:sp>
      <p:sp>
        <p:nvSpPr>
          <p:cNvPr id="21" name="テキスト ボックス 20">
            <a:extLst>
              <a:ext uri="{FF2B5EF4-FFF2-40B4-BE49-F238E27FC236}">
                <a16:creationId xmlns:a16="http://schemas.microsoft.com/office/drawing/2014/main" id="{C4226C30-225C-562C-7267-79064CA8F0A6}"/>
              </a:ext>
            </a:extLst>
          </p:cNvPr>
          <p:cNvSpPr txBox="1"/>
          <p:nvPr/>
        </p:nvSpPr>
        <p:spPr>
          <a:xfrm>
            <a:off x="1195677" y="5445458"/>
            <a:ext cx="1894916" cy="307777"/>
          </a:xfrm>
          <a:prstGeom prst="rect">
            <a:avLst/>
          </a:prstGeom>
          <a:noFill/>
        </p:spPr>
        <p:txBody>
          <a:bodyPr wrap="square" rtlCol="0">
            <a:spAutoFit/>
          </a:bodyPr>
          <a:lstStyle/>
          <a:p>
            <a:r>
              <a:rPr kumimoji="1" lang="ja-JP" altLang="en-US" sz="1400"/>
              <a:t>グラフの表示・表現</a:t>
            </a:r>
          </a:p>
        </p:txBody>
      </p:sp>
      <p:sp>
        <p:nvSpPr>
          <p:cNvPr id="22" name="正方形/長方形 21">
            <a:extLst>
              <a:ext uri="{FF2B5EF4-FFF2-40B4-BE49-F238E27FC236}">
                <a16:creationId xmlns:a16="http://schemas.microsoft.com/office/drawing/2014/main" id="{1CCE14A1-9257-3809-5E63-66D731DFFD90}"/>
              </a:ext>
            </a:extLst>
          </p:cNvPr>
          <p:cNvSpPr/>
          <p:nvPr/>
        </p:nvSpPr>
        <p:spPr>
          <a:xfrm>
            <a:off x="1015732" y="1863648"/>
            <a:ext cx="2949627" cy="3071465"/>
          </a:xfrm>
          <a:prstGeom prst="rect">
            <a:avLst/>
          </a:prstGeom>
          <a:noFill/>
          <a:ln w="254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985548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D97CBC-CA65-E868-1DE2-835371F9E17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BD5A72A-B90E-E0EF-A921-4741A74A9A20}"/>
              </a:ext>
            </a:extLst>
          </p:cNvPr>
          <p:cNvSpPr>
            <a:spLocks noGrp="1"/>
          </p:cNvSpPr>
          <p:nvPr>
            <p:ph type="title"/>
          </p:nvPr>
        </p:nvSpPr>
        <p:spPr>
          <a:xfrm>
            <a:off x="0" y="1"/>
            <a:ext cx="12192000" cy="586626"/>
          </a:xfrm>
          <a:solidFill>
            <a:schemeClr val="bg1">
              <a:lumMod val="85000"/>
            </a:schemeClr>
          </a:solidFill>
        </p:spPr>
        <p:txBody>
          <a:bodyPr>
            <a:normAutofit fontScale="90000"/>
          </a:bodyPr>
          <a:lstStyle/>
          <a:p>
            <a:r>
              <a:rPr kumimoji="1" lang="ja-JP" altLang="en-US" sz="3600"/>
              <a:t>研究リソーストラッキングシステム（</a:t>
            </a:r>
            <a:r>
              <a:rPr lang="en-US" altLang="ja-JP" sz="3600"/>
              <a:t>2026</a:t>
            </a:r>
            <a:r>
              <a:rPr lang="ja-JP" altLang="en-US" sz="3600"/>
              <a:t>年度開発）</a:t>
            </a:r>
            <a:r>
              <a:rPr lang="en-US" altLang="ja-JP" sz="3600"/>
              <a:t>(3/4)</a:t>
            </a:r>
            <a:endParaRPr kumimoji="1" lang="ja-JP" altLang="en-US" sz="2000"/>
          </a:p>
        </p:txBody>
      </p:sp>
      <p:sp>
        <p:nvSpPr>
          <p:cNvPr id="3" name="テキスト ボックス 2">
            <a:extLst>
              <a:ext uri="{FF2B5EF4-FFF2-40B4-BE49-F238E27FC236}">
                <a16:creationId xmlns:a16="http://schemas.microsoft.com/office/drawing/2014/main" id="{87F00198-908D-F115-8EF1-74A0B8C61067}"/>
              </a:ext>
            </a:extLst>
          </p:cNvPr>
          <p:cNvSpPr txBox="1"/>
          <p:nvPr/>
        </p:nvSpPr>
        <p:spPr>
          <a:xfrm>
            <a:off x="-23815" y="586627"/>
            <a:ext cx="7012555" cy="5632311"/>
          </a:xfrm>
          <a:prstGeom prst="rect">
            <a:avLst/>
          </a:prstGeom>
          <a:noFill/>
        </p:spPr>
        <p:txBody>
          <a:bodyPr wrap="square" rtlCol="0">
            <a:spAutoFit/>
          </a:bodyPr>
          <a:lstStyle/>
          <a:p>
            <a:r>
              <a:rPr lang="ja-JP" altLang="en-US" b="1"/>
              <a:t>◾️各作業の見通し</a:t>
            </a:r>
            <a:endParaRPr kumimoji="1" lang="en-US" altLang="ja-JP"/>
          </a:p>
          <a:p>
            <a:pPr marL="285750" indent="-285750">
              <a:buFont typeface="Arial" panose="020B0604020202020204" pitchFamily="34" charset="0"/>
              <a:buChar char="•"/>
            </a:pPr>
            <a:r>
              <a:rPr kumimoji="1" lang="ja-JP" altLang="en-US"/>
              <a:t>論文の収集</a:t>
            </a:r>
            <a:endParaRPr kumimoji="1" lang="en-US" altLang="ja-JP"/>
          </a:p>
          <a:p>
            <a:pPr marL="742950" lvl="1" indent="-285750">
              <a:buFont typeface="Arial" panose="020B0604020202020204" pitchFamily="34" charset="0"/>
              <a:buChar char="•"/>
            </a:pPr>
            <a:r>
              <a:rPr lang="ja-JP" altLang="en-US" sz="1400"/>
              <a:t>まずは鹿大から。九州</a:t>
            </a:r>
            <a:r>
              <a:rPr lang="en-US" altLang="ja-JP" sz="1400"/>
              <a:t>/</a:t>
            </a:r>
            <a:r>
              <a:rPr lang="ja-JP" altLang="en-US" sz="1400"/>
              <a:t>西日本</a:t>
            </a:r>
            <a:r>
              <a:rPr lang="en-US" altLang="ja-JP" sz="1400"/>
              <a:t>/</a:t>
            </a:r>
            <a:r>
              <a:rPr lang="ja-JP" altLang="en-US" sz="1400"/>
              <a:t>全国の国大へと可能な限り拡張する。</a:t>
            </a:r>
            <a:endParaRPr lang="en-US" altLang="ja-JP" sz="1400"/>
          </a:p>
          <a:p>
            <a:pPr marL="742950" lvl="1" indent="-285750">
              <a:buFont typeface="Arial" panose="020B0604020202020204" pitchFamily="34" charset="0"/>
              <a:buChar char="•"/>
            </a:pPr>
            <a:r>
              <a:rPr kumimoji="1" lang="ja-JP" altLang="en-US" sz="1400"/>
              <a:t>データ量試算の結果、対象は国立大学のリポジトリのみ。</a:t>
            </a:r>
            <a:endParaRPr kumimoji="1" lang="en-US" altLang="ja-JP" sz="1400"/>
          </a:p>
          <a:p>
            <a:pPr marL="285750" indent="-285750">
              <a:buFont typeface="Arial" panose="020B0604020202020204" pitchFamily="34" charset="0"/>
              <a:buChar char="•"/>
            </a:pPr>
            <a:r>
              <a:rPr lang="ja-JP" altLang="en-US"/>
              <a:t>研究リソースの抽出</a:t>
            </a:r>
            <a:endParaRPr lang="en-US" altLang="ja-JP"/>
          </a:p>
          <a:p>
            <a:pPr marL="742950" lvl="1" indent="-285750">
              <a:buFont typeface="Arial" panose="020B0604020202020204" pitchFamily="34" charset="0"/>
              <a:buChar char="•"/>
            </a:pPr>
            <a:r>
              <a:rPr lang="ja-JP" altLang="en-US" sz="1400"/>
              <a:t>日本語</a:t>
            </a:r>
            <a:r>
              <a:rPr lang="en-US" altLang="ja-JP" sz="1400"/>
              <a:t>/</a:t>
            </a:r>
            <a:r>
              <a:rPr lang="ja-JP" altLang="en-US" sz="1400"/>
              <a:t>英語に対応予定、全文に対して形態素解析を実施する。</a:t>
            </a:r>
            <a:endParaRPr lang="en-US" altLang="ja-JP" sz="1400"/>
          </a:p>
          <a:p>
            <a:pPr marL="742950" lvl="1" indent="-285750">
              <a:buFont typeface="Arial" panose="020B0604020202020204" pitchFamily="34" charset="0"/>
              <a:buChar char="•"/>
            </a:pPr>
            <a:r>
              <a:rPr lang="ja-JP" altLang="en-US" sz="1400"/>
              <a:t>固有名詞に対してさらにクラスを付与する。（クラスはあらかじめ決めておく）</a:t>
            </a:r>
            <a:endParaRPr lang="en-US" altLang="ja-JP" sz="1400"/>
          </a:p>
          <a:p>
            <a:pPr marL="742950" lvl="1" indent="-285750">
              <a:buFont typeface="Arial" panose="020B0604020202020204" pitchFamily="34" charset="0"/>
              <a:buChar char="•"/>
            </a:pPr>
            <a:r>
              <a:rPr lang="ja-JP" altLang="en-US" sz="1400"/>
              <a:t>クラス</a:t>
            </a:r>
            <a:r>
              <a:rPr lang="en-US" altLang="ja-JP" sz="1400"/>
              <a:t>(OntoNote5</a:t>
            </a:r>
            <a:r>
              <a:rPr lang="ja-JP" altLang="en-US" sz="1400"/>
              <a:t>より</a:t>
            </a:r>
            <a:r>
              <a:rPr lang="en-US" altLang="ja-JP" sz="1400"/>
              <a:t>)</a:t>
            </a:r>
            <a:r>
              <a:rPr lang="ja-JP" altLang="en-US" sz="1400"/>
              <a:t>：</a:t>
            </a:r>
            <a:r>
              <a:rPr lang="en-US" altLang="ja-JP" sz="1400"/>
              <a:t>{</a:t>
            </a:r>
            <a:r>
              <a:rPr lang="ja-JP" altLang="en-US" sz="1400"/>
              <a:t>論文</a:t>
            </a:r>
            <a:r>
              <a:rPr lang="en-US" altLang="ja-JP" sz="1400"/>
              <a:t>/PRODUCT</a:t>
            </a:r>
            <a:r>
              <a:rPr lang="ja-JP" altLang="en-US" sz="1400"/>
              <a:t>、人物</a:t>
            </a:r>
            <a:r>
              <a:rPr lang="en-US" altLang="ja-JP" sz="1400"/>
              <a:t>/PERSON</a:t>
            </a:r>
            <a:r>
              <a:rPr lang="ja-JP" altLang="en-US" sz="1400"/>
              <a:t>、組織</a:t>
            </a:r>
            <a:r>
              <a:rPr lang="en-US" altLang="ja-JP" sz="1400"/>
              <a:t>/ORG</a:t>
            </a:r>
            <a:r>
              <a:rPr lang="ja-JP" altLang="en-US" sz="1400"/>
              <a:t>、地域</a:t>
            </a:r>
            <a:r>
              <a:rPr lang="en-US" altLang="ja-JP" sz="1400"/>
              <a:t>/LOC</a:t>
            </a:r>
            <a:r>
              <a:rPr lang="ja-JP" altLang="en-US" sz="1400"/>
              <a:t>、資料・史料・試料</a:t>
            </a:r>
            <a:r>
              <a:rPr lang="en-US" altLang="ja-JP" sz="1400"/>
              <a:t>/{PRODUCT|CARDINAL,</a:t>
            </a:r>
            <a:r>
              <a:rPr lang="ja-JP" altLang="en-US" sz="1400"/>
              <a:t>ラベルなし</a:t>
            </a:r>
            <a:r>
              <a:rPr lang="en-US" altLang="ja-JP" sz="1400"/>
              <a:t>}</a:t>
            </a:r>
            <a:r>
              <a:rPr lang="ja-JP" altLang="en-US" sz="1400"/>
              <a:t>、施設・設備</a:t>
            </a:r>
            <a:r>
              <a:rPr lang="en-US" altLang="ja-JP" sz="1400"/>
              <a:t>/FAC</a:t>
            </a:r>
            <a:r>
              <a:rPr lang="ja-JP" altLang="en-US" sz="1400"/>
              <a:t>、機材・プログラム</a:t>
            </a:r>
            <a:r>
              <a:rPr lang="en-US" altLang="ja-JP" sz="1400"/>
              <a:t>/PRODUCT</a:t>
            </a:r>
            <a:r>
              <a:rPr lang="ja-JP" altLang="en-US" sz="1400"/>
              <a:t>、データ</a:t>
            </a:r>
            <a:r>
              <a:rPr lang="en-US" altLang="ja-JP" sz="1400"/>
              <a:t>/PRODUCT}</a:t>
            </a:r>
          </a:p>
          <a:p>
            <a:pPr marL="742950" lvl="1" indent="-285750">
              <a:buFont typeface="Arial" panose="020B0604020202020204" pitchFamily="34" charset="0"/>
              <a:buChar char="•"/>
            </a:pPr>
            <a:r>
              <a:rPr lang="ja-JP" altLang="en-US" sz="1400"/>
              <a:t>特別クラス（ユニーク特定済み）：</a:t>
            </a:r>
            <a:r>
              <a:rPr lang="en-US" altLang="ja-JP" sz="1400"/>
              <a:t>{</a:t>
            </a:r>
            <a:r>
              <a:rPr lang="ja-JP" altLang="en-US" sz="1400"/>
              <a:t>論文</a:t>
            </a:r>
            <a:r>
              <a:rPr lang="en-US" altLang="ja-JP" sz="1400"/>
              <a:t>/pub</a:t>
            </a:r>
            <a:r>
              <a:rPr lang="ja-JP" altLang="en-US" sz="1400"/>
              <a:t>、著者</a:t>
            </a:r>
            <a:r>
              <a:rPr lang="en-US" altLang="ja-JP" sz="1400"/>
              <a:t>/au</a:t>
            </a:r>
            <a:r>
              <a:rPr lang="ja-JP" altLang="en-US" sz="1400"/>
              <a:t>、著者所属</a:t>
            </a:r>
            <a:r>
              <a:rPr lang="en-US" altLang="ja-JP" sz="1400"/>
              <a:t>/ins}</a:t>
            </a:r>
          </a:p>
          <a:p>
            <a:pPr marL="285750" indent="-285750">
              <a:buFont typeface="Arial" panose="020B0604020202020204" pitchFamily="34" charset="0"/>
              <a:buChar char="•"/>
            </a:pPr>
            <a:r>
              <a:rPr kumimoji="1" lang="en-US" altLang="ja-JP"/>
              <a:t>ID</a:t>
            </a:r>
            <a:r>
              <a:rPr kumimoji="1" lang="ja-JP" altLang="en-US"/>
              <a:t>の付与と関係性の整理</a:t>
            </a:r>
            <a:endParaRPr kumimoji="1" lang="en-US" altLang="ja-JP"/>
          </a:p>
          <a:p>
            <a:pPr marL="742950" lvl="1" indent="-285750">
              <a:buFont typeface="Arial" panose="020B0604020202020204" pitchFamily="34" charset="0"/>
              <a:buChar char="•"/>
            </a:pPr>
            <a:r>
              <a:rPr lang="ja-JP" altLang="en-US" sz="1400"/>
              <a:t>知識グラフ対象（ノード）にはユニーク</a:t>
            </a:r>
            <a:r>
              <a:rPr lang="en-US" altLang="ja-JP" sz="1400"/>
              <a:t>ID</a:t>
            </a:r>
            <a:r>
              <a:rPr lang="ja-JP" altLang="en-US" sz="1400"/>
              <a:t>を付与する。</a:t>
            </a:r>
            <a:endParaRPr lang="en-US" altLang="ja-JP" sz="1400"/>
          </a:p>
          <a:p>
            <a:pPr marL="742950" lvl="1" indent="-285750">
              <a:buFont typeface="Arial" panose="020B0604020202020204" pitchFamily="34" charset="0"/>
              <a:buChar char="•"/>
            </a:pPr>
            <a:r>
              <a:rPr lang="ja-JP" altLang="en-US" sz="1400"/>
              <a:t>テキストに対する再検索が必要。</a:t>
            </a:r>
            <a:endParaRPr kumimoji="1" lang="en-US" altLang="ja-JP" sz="1400"/>
          </a:p>
          <a:p>
            <a:pPr marL="285750" indent="-285750">
              <a:buFont typeface="Arial" panose="020B0604020202020204" pitchFamily="34" charset="0"/>
              <a:buChar char="•"/>
            </a:pPr>
            <a:r>
              <a:rPr lang="ja-JP" altLang="en-US"/>
              <a:t>任意条件による関係の選択と知識グラフの構築</a:t>
            </a:r>
            <a:endParaRPr lang="en-US" altLang="ja-JP"/>
          </a:p>
          <a:p>
            <a:pPr marL="742950" lvl="1" indent="-285750">
              <a:buFont typeface="Arial" panose="020B0604020202020204" pitchFamily="34" charset="0"/>
              <a:buChar char="•"/>
            </a:pPr>
            <a:r>
              <a:rPr lang="ja-JP" altLang="en-US" sz="1400"/>
              <a:t>条件はノード属性</a:t>
            </a:r>
            <a:r>
              <a:rPr lang="en-US" altLang="ja-JP" sz="1400"/>
              <a:t>/</a:t>
            </a:r>
            <a:r>
              <a:rPr lang="ja-JP" altLang="en-US" sz="1400"/>
              <a:t>エッジ属性。どのような属性が抽出可能かは今後の分析次第となる。</a:t>
            </a:r>
            <a:endParaRPr lang="en-US" altLang="ja-JP" sz="1400"/>
          </a:p>
          <a:p>
            <a:pPr marL="742950" lvl="1" indent="-285750">
              <a:buFont typeface="Arial" panose="020B0604020202020204" pitchFamily="34" charset="0"/>
              <a:buChar char="•"/>
            </a:pPr>
            <a:r>
              <a:rPr lang="ja-JP" altLang="en-US" sz="1400"/>
              <a:t>この段階ではエッジリストおよびノードリストとして管理される。</a:t>
            </a:r>
            <a:endParaRPr lang="en-US" altLang="ja-JP" sz="1400"/>
          </a:p>
          <a:p>
            <a:pPr marL="285750" indent="-285750">
              <a:buFont typeface="Arial" panose="020B0604020202020204" pitchFamily="34" charset="0"/>
              <a:buChar char="•"/>
            </a:pPr>
            <a:r>
              <a:rPr kumimoji="1" lang="ja-JP" altLang="en-US"/>
              <a:t>グラフの表示・表現</a:t>
            </a:r>
            <a:endParaRPr kumimoji="1" lang="en-US" altLang="ja-JP"/>
          </a:p>
          <a:p>
            <a:pPr marL="742950" lvl="1" indent="-285750">
              <a:buFont typeface="Arial" panose="020B0604020202020204" pitchFamily="34" charset="0"/>
              <a:buChar char="•"/>
            </a:pPr>
            <a:r>
              <a:rPr kumimoji="1" lang="ja-JP" altLang="en-US" sz="1400"/>
              <a:t>選択されたエッジとノードからグラフを生成する。</a:t>
            </a:r>
            <a:endParaRPr kumimoji="1" lang="en-US" altLang="ja-JP" sz="1400"/>
          </a:p>
          <a:p>
            <a:pPr marL="742950" lvl="1" indent="-285750">
              <a:buFont typeface="Arial" panose="020B0604020202020204" pitchFamily="34" charset="0"/>
              <a:buChar char="•"/>
            </a:pPr>
            <a:r>
              <a:rPr lang="ja-JP" altLang="en-US" sz="1400"/>
              <a:t>ノード</a:t>
            </a:r>
            <a:r>
              <a:rPr lang="en-US" altLang="ja-JP" sz="1400"/>
              <a:t>ID</a:t>
            </a:r>
            <a:r>
              <a:rPr lang="ja-JP" altLang="en-US" sz="1400"/>
              <a:t>からノード名を引く必要がある。</a:t>
            </a:r>
            <a:endParaRPr kumimoji="1" lang="en-US" altLang="ja-JP" sz="1400"/>
          </a:p>
          <a:p>
            <a:pPr marL="742950" lvl="1" indent="-285750">
              <a:buFont typeface="Arial" panose="020B0604020202020204" pitchFamily="34" charset="0"/>
              <a:buChar char="•"/>
            </a:pPr>
            <a:r>
              <a:rPr lang="ja-JP" altLang="en-US" sz="1400"/>
              <a:t>エッジリストとノードリストの結合則：</a:t>
            </a:r>
            <a:endParaRPr lang="en-US" altLang="ja-JP" sz="1400"/>
          </a:p>
          <a:p>
            <a:pPr marL="1200150" lvl="2" indent="-285750">
              <a:buFont typeface="Arial" panose="020B0604020202020204" pitchFamily="34" charset="0"/>
              <a:buChar char="•"/>
            </a:pPr>
            <a:r>
              <a:rPr kumimoji="1" lang="en-US" altLang="ja-JP" sz="1400"/>
              <a:t>Wolfram: OR</a:t>
            </a:r>
            <a:endParaRPr kumimoji="1" lang="ja-JP" altLang="en-US" sz="1400"/>
          </a:p>
        </p:txBody>
      </p:sp>
      <p:sp>
        <p:nvSpPr>
          <p:cNvPr id="6" name="テキスト ボックス 5">
            <a:extLst>
              <a:ext uri="{FF2B5EF4-FFF2-40B4-BE49-F238E27FC236}">
                <a16:creationId xmlns:a16="http://schemas.microsoft.com/office/drawing/2014/main" id="{FBF1AA10-88FA-BF93-32E5-018008487310}"/>
              </a:ext>
            </a:extLst>
          </p:cNvPr>
          <p:cNvSpPr txBox="1"/>
          <p:nvPr/>
        </p:nvSpPr>
        <p:spPr>
          <a:xfrm>
            <a:off x="7192377" y="5231969"/>
            <a:ext cx="2079415" cy="307777"/>
          </a:xfrm>
          <a:prstGeom prst="rect">
            <a:avLst/>
          </a:prstGeom>
          <a:noFill/>
          <a:ln w="6350">
            <a:solidFill>
              <a:schemeClr val="tx1"/>
            </a:solidFill>
          </a:ln>
        </p:spPr>
        <p:txBody>
          <a:bodyPr wrap="none" rtlCol="0">
            <a:spAutoFit/>
          </a:bodyPr>
          <a:lstStyle/>
          <a:p>
            <a:r>
              <a:rPr kumimoji="1" lang="ja-JP" altLang="en-US" sz="1400"/>
              <a:t>試料</a:t>
            </a:r>
            <a:r>
              <a:rPr kumimoji="1" lang="en-US" altLang="ja-JP" sz="1400"/>
              <a:t>1</a:t>
            </a:r>
            <a:r>
              <a:rPr kumimoji="1" lang="ja-JP" altLang="en-US" sz="1400"/>
              <a:t>を使っている論文</a:t>
            </a:r>
          </a:p>
        </p:txBody>
      </p:sp>
      <p:pic>
        <p:nvPicPr>
          <p:cNvPr id="7" name="図 6">
            <a:extLst>
              <a:ext uri="{FF2B5EF4-FFF2-40B4-BE49-F238E27FC236}">
                <a16:creationId xmlns:a16="http://schemas.microsoft.com/office/drawing/2014/main" id="{B3178D68-D5F9-540A-C39A-C9A117A16F4B}"/>
              </a:ext>
            </a:extLst>
          </p:cNvPr>
          <p:cNvPicPr>
            <a:picLocks noChangeAspect="1"/>
          </p:cNvPicPr>
          <p:nvPr/>
        </p:nvPicPr>
        <p:blipFill>
          <a:blip r:embed="rId2"/>
          <a:stretch>
            <a:fillRect/>
          </a:stretch>
        </p:blipFill>
        <p:spPr>
          <a:xfrm>
            <a:off x="7192377" y="5571327"/>
            <a:ext cx="2455817" cy="338555"/>
          </a:xfrm>
          <a:prstGeom prst="rect">
            <a:avLst/>
          </a:prstGeom>
        </p:spPr>
      </p:pic>
      <p:pic>
        <p:nvPicPr>
          <p:cNvPr id="8" name="図 7">
            <a:extLst>
              <a:ext uri="{FF2B5EF4-FFF2-40B4-BE49-F238E27FC236}">
                <a16:creationId xmlns:a16="http://schemas.microsoft.com/office/drawing/2014/main" id="{C6EAAE11-8637-3812-46C4-4F232F9283C7}"/>
              </a:ext>
            </a:extLst>
          </p:cNvPr>
          <p:cNvPicPr>
            <a:picLocks noChangeAspect="1"/>
          </p:cNvPicPr>
          <p:nvPr/>
        </p:nvPicPr>
        <p:blipFill>
          <a:blip r:embed="rId3"/>
          <a:stretch>
            <a:fillRect/>
          </a:stretch>
        </p:blipFill>
        <p:spPr>
          <a:xfrm>
            <a:off x="10248211" y="5601474"/>
            <a:ext cx="1760909" cy="1024284"/>
          </a:xfrm>
          <a:prstGeom prst="rect">
            <a:avLst/>
          </a:prstGeom>
        </p:spPr>
      </p:pic>
      <p:sp>
        <p:nvSpPr>
          <p:cNvPr id="9" name="テキスト ボックス 8">
            <a:extLst>
              <a:ext uri="{FF2B5EF4-FFF2-40B4-BE49-F238E27FC236}">
                <a16:creationId xmlns:a16="http://schemas.microsoft.com/office/drawing/2014/main" id="{55A38372-1CF1-9D6E-6A1F-9FA35C6A68DC}"/>
              </a:ext>
            </a:extLst>
          </p:cNvPr>
          <p:cNvSpPr txBox="1"/>
          <p:nvPr/>
        </p:nvSpPr>
        <p:spPr>
          <a:xfrm>
            <a:off x="9770119" y="5231969"/>
            <a:ext cx="2339102" cy="307777"/>
          </a:xfrm>
          <a:prstGeom prst="rect">
            <a:avLst/>
          </a:prstGeom>
          <a:noFill/>
          <a:ln w="6350">
            <a:solidFill>
              <a:schemeClr val="tx1"/>
            </a:solidFill>
          </a:ln>
        </p:spPr>
        <p:txBody>
          <a:bodyPr wrap="none" rtlCol="0">
            <a:spAutoFit/>
          </a:bodyPr>
          <a:lstStyle/>
          <a:p>
            <a:r>
              <a:rPr lang="ja-JP" altLang="en-US" sz="1400"/>
              <a:t>著者が伊東先生である</a:t>
            </a:r>
            <a:r>
              <a:rPr kumimoji="1" lang="ja-JP" altLang="en-US" sz="1400"/>
              <a:t>論文</a:t>
            </a:r>
          </a:p>
        </p:txBody>
      </p:sp>
      <p:sp>
        <p:nvSpPr>
          <p:cNvPr id="12" name="テキスト ボックス 11">
            <a:extLst>
              <a:ext uri="{FF2B5EF4-FFF2-40B4-BE49-F238E27FC236}">
                <a16:creationId xmlns:a16="http://schemas.microsoft.com/office/drawing/2014/main" id="{019F6093-4E78-BE59-C3D4-72EBF3EE332E}"/>
              </a:ext>
            </a:extLst>
          </p:cNvPr>
          <p:cNvSpPr txBox="1"/>
          <p:nvPr/>
        </p:nvSpPr>
        <p:spPr>
          <a:xfrm>
            <a:off x="7946543" y="894606"/>
            <a:ext cx="3647152" cy="369332"/>
          </a:xfrm>
          <a:prstGeom prst="rect">
            <a:avLst/>
          </a:prstGeom>
          <a:noFill/>
        </p:spPr>
        <p:txBody>
          <a:bodyPr wrap="none" rtlCol="0">
            <a:spAutoFit/>
          </a:bodyPr>
          <a:lstStyle/>
          <a:p>
            <a:r>
              <a:rPr kumimoji="1" lang="ja-JP" altLang="en-US"/>
              <a:t>関係選択とグラフ構築のイメージ</a:t>
            </a:r>
          </a:p>
        </p:txBody>
      </p:sp>
      <p:sp>
        <p:nvSpPr>
          <p:cNvPr id="14" name="テキスト ボックス 13">
            <a:extLst>
              <a:ext uri="{FF2B5EF4-FFF2-40B4-BE49-F238E27FC236}">
                <a16:creationId xmlns:a16="http://schemas.microsoft.com/office/drawing/2014/main" id="{3A6EA27C-3922-6291-754A-7D4A9E31071E}"/>
              </a:ext>
            </a:extLst>
          </p:cNvPr>
          <p:cNvSpPr txBox="1"/>
          <p:nvPr/>
        </p:nvSpPr>
        <p:spPr>
          <a:xfrm>
            <a:off x="7821184" y="1268721"/>
            <a:ext cx="1415772" cy="338554"/>
          </a:xfrm>
          <a:prstGeom prst="rect">
            <a:avLst/>
          </a:prstGeom>
          <a:noFill/>
          <a:ln w="6350">
            <a:solidFill>
              <a:schemeClr val="tx1"/>
            </a:solidFill>
          </a:ln>
        </p:spPr>
        <p:txBody>
          <a:bodyPr wrap="none" rtlCol="0">
            <a:spAutoFit/>
          </a:bodyPr>
          <a:lstStyle/>
          <a:p>
            <a:r>
              <a:rPr kumimoji="1" lang="ja-JP" altLang="en-US" sz="1600"/>
              <a:t>エッジリスト</a:t>
            </a:r>
          </a:p>
        </p:txBody>
      </p:sp>
      <p:sp>
        <p:nvSpPr>
          <p:cNvPr id="15" name="テキスト ボックス 14">
            <a:extLst>
              <a:ext uri="{FF2B5EF4-FFF2-40B4-BE49-F238E27FC236}">
                <a16:creationId xmlns:a16="http://schemas.microsoft.com/office/drawing/2014/main" id="{1705BF67-FF91-0063-400B-06155FB7EE24}"/>
              </a:ext>
            </a:extLst>
          </p:cNvPr>
          <p:cNvSpPr txBox="1"/>
          <p:nvPr/>
        </p:nvSpPr>
        <p:spPr>
          <a:xfrm>
            <a:off x="10020858" y="1268721"/>
            <a:ext cx="1415772" cy="338554"/>
          </a:xfrm>
          <a:prstGeom prst="rect">
            <a:avLst/>
          </a:prstGeom>
          <a:noFill/>
          <a:ln w="6350">
            <a:solidFill>
              <a:schemeClr val="tx1"/>
            </a:solidFill>
          </a:ln>
        </p:spPr>
        <p:txBody>
          <a:bodyPr wrap="none" rtlCol="0">
            <a:spAutoFit/>
          </a:bodyPr>
          <a:lstStyle/>
          <a:p>
            <a:r>
              <a:rPr lang="ja-JP" altLang="en-US" sz="1600"/>
              <a:t>ノード</a:t>
            </a:r>
            <a:r>
              <a:rPr kumimoji="1" lang="ja-JP" altLang="en-US" sz="1600"/>
              <a:t>リスト</a:t>
            </a:r>
          </a:p>
        </p:txBody>
      </p:sp>
      <p:cxnSp>
        <p:nvCxnSpPr>
          <p:cNvPr id="17" name="直線矢印コネクタ 16">
            <a:extLst>
              <a:ext uri="{FF2B5EF4-FFF2-40B4-BE49-F238E27FC236}">
                <a16:creationId xmlns:a16="http://schemas.microsoft.com/office/drawing/2014/main" id="{57B7FC3C-733D-2B90-CF6B-0A960E430448}"/>
              </a:ext>
            </a:extLst>
          </p:cNvPr>
          <p:cNvCxnSpPr>
            <a:cxnSpLocks/>
            <a:stCxn id="14" idx="2"/>
          </p:cNvCxnSpPr>
          <p:nvPr/>
        </p:nvCxnSpPr>
        <p:spPr>
          <a:xfrm>
            <a:off x="8529070" y="1607275"/>
            <a:ext cx="0" cy="49879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2" name="直線矢印コネクタ 21">
            <a:extLst>
              <a:ext uri="{FF2B5EF4-FFF2-40B4-BE49-F238E27FC236}">
                <a16:creationId xmlns:a16="http://schemas.microsoft.com/office/drawing/2014/main" id="{61210E73-098A-2F37-EC0B-2757556315E1}"/>
              </a:ext>
            </a:extLst>
          </p:cNvPr>
          <p:cNvCxnSpPr>
            <a:cxnSpLocks/>
            <a:stCxn id="15" idx="2"/>
          </p:cNvCxnSpPr>
          <p:nvPr/>
        </p:nvCxnSpPr>
        <p:spPr>
          <a:xfrm>
            <a:off x="10728744" y="1607275"/>
            <a:ext cx="0" cy="49879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3" name="テキスト ボックス 22">
            <a:extLst>
              <a:ext uri="{FF2B5EF4-FFF2-40B4-BE49-F238E27FC236}">
                <a16:creationId xmlns:a16="http://schemas.microsoft.com/office/drawing/2014/main" id="{4983C2ED-CBA1-244D-629B-C56600534FFC}"/>
              </a:ext>
            </a:extLst>
          </p:cNvPr>
          <p:cNvSpPr txBox="1"/>
          <p:nvPr/>
        </p:nvSpPr>
        <p:spPr>
          <a:xfrm>
            <a:off x="8937309" y="1811438"/>
            <a:ext cx="1415772" cy="338554"/>
          </a:xfrm>
          <a:prstGeom prst="rect">
            <a:avLst/>
          </a:prstGeom>
          <a:noFill/>
        </p:spPr>
        <p:txBody>
          <a:bodyPr wrap="none" rtlCol="0">
            <a:spAutoFit/>
          </a:bodyPr>
          <a:lstStyle/>
          <a:p>
            <a:r>
              <a:rPr kumimoji="1" lang="ja-JP" altLang="en-US" sz="1600"/>
              <a:t>潜在的グラフ</a:t>
            </a:r>
          </a:p>
        </p:txBody>
      </p:sp>
      <p:sp>
        <p:nvSpPr>
          <p:cNvPr id="26" name="テキスト ボックス 25">
            <a:extLst>
              <a:ext uri="{FF2B5EF4-FFF2-40B4-BE49-F238E27FC236}">
                <a16:creationId xmlns:a16="http://schemas.microsoft.com/office/drawing/2014/main" id="{B98E4D10-210B-AE75-008B-47FFA582BE7E}"/>
              </a:ext>
            </a:extLst>
          </p:cNvPr>
          <p:cNvSpPr txBox="1"/>
          <p:nvPr/>
        </p:nvSpPr>
        <p:spPr>
          <a:xfrm>
            <a:off x="8996356" y="4931759"/>
            <a:ext cx="1210588" cy="338554"/>
          </a:xfrm>
          <a:prstGeom prst="rect">
            <a:avLst/>
          </a:prstGeom>
          <a:noFill/>
        </p:spPr>
        <p:txBody>
          <a:bodyPr wrap="none" rtlCol="0">
            <a:spAutoFit/>
          </a:bodyPr>
          <a:lstStyle/>
          <a:p>
            <a:r>
              <a:rPr kumimoji="1" lang="ja-JP" altLang="en-US" sz="1600"/>
              <a:t>グラフ構築</a:t>
            </a:r>
          </a:p>
        </p:txBody>
      </p:sp>
      <p:cxnSp>
        <p:nvCxnSpPr>
          <p:cNvPr id="28" name="直線矢印コネクタ 27">
            <a:extLst>
              <a:ext uri="{FF2B5EF4-FFF2-40B4-BE49-F238E27FC236}">
                <a16:creationId xmlns:a16="http://schemas.microsoft.com/office/drawing/2014/main" id="{9262A59D-B01D-7517-9F8F-4BCFA409FBCB}"/>
              </a:ext>
            </a:extLst>
          </p:cNvPr>
          <p:cNvCxnSpPr>
            <a:cxnSpLocks/>
            <a:endCxn id="26" idx="0"/>
          </p:cNvCxnSpPr>
          <p:nvPr/>
        </p:nvCxnSpPr>
        <p:spPr>
          <a:xfrm flipH="1">
            <a:off x="9601650" y="4657953"/>
            <a:ext cx="1" cy="27380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4" name="テキスト ボックス 3">
            <a:extLst>
              <a:ext uri="{FF2B5EF4-FFF2-40B4-BE49-F238E27FC236}">
                <a16:creationId xmlns:a16="http://schemas.microsoft.com/office/drawing/2014/main" id="{C380CD9E-9280-B124-2A01-E3DE8783BC25}"/>
              </a:ext>
            </a:extLst>
          </p:cNvPr>
          <p:cNvSpPr txBox="1"/>
          <p:nvPr/>
        </p:nvSpPr>
        <p:spPr>
          <a:xfrm>
            <a:off x="7289074" y="6302277"/>
            <a:ext cx="2396810" cy="307777"/>
          </a:xfrm>
          <a:prstGeom prst="rect">
            <a:avLst/>
          </a:prstGeom>
          <a:noFill/>
        </p:spPr>
        <p:txBody>
          <a:bodyPr wrap="none" rtlCol="0">
            <a:spAutoFit/>
          </a:bodyPr>
          <a:lstStyle/>
          <a:p>
            <a:r>
              <a:rPr kumimoji="1" lang="en-US" altLang="ja-JP" sz="1400"/>
              <a:t>※</a:t>
            </a:r>
            <a:r>
              <a:rPr kumimoji="1" lang="ja-JP" altLang="en-US" sz="1400"/>
              <a:t>注</a:t>
            </a:r>
            <a:r>
              <a:rPr kumimoji="1" lang="en-US" altLang="ja-JP" sz="1400"/>
              <a:t>:</a:t>
            </a:r>
            <a:r>
              <a:rPr kumimoji="1" lang="ja-JP" altLang="en-US" sz="1400"/>
              <a:t>ノード名は実際には</a:t>
            </a:r>
            <a:r>
              <a:rPr kumimoji="1" lang="en-US" altLang="ja-JP" sz="1400"/>
              <a:t>ID</a:t>
            </a:r>
            <a:endParaRPr kumimoji="1" lang="ja-JP" altLang="en-US" sz="1400"/>
          </a:p>
        </p:txBody>
      </p:sp>
      <p:pic>
        <p:nvPicPr>
          <p:cNvPr id="5" name="図 4">
            <a:extLst>
              <a:ext uri="{FF2B5EF4-FFF2-40B4-BE49-F238E27FC236}">
                <a16:creationId xmlns:a16="http://schemas.microsoft.com/office/drawing/2014/main" id="{0B3E82C8-E297-F581-21FF-809116099067}"/>
              </a:ext>
            </a:extLst>
          </p:cNvPr>
          <p:cNvPicPr>
            <a:picLocks noChangeAspect="1"/>
          </p:cNvPicPr>
          <p:nvPr/>
        </p:nvPicPr>
        <p:blipFill>
          <a:blip r:embed="rId4"/>
          <a:stretch>
            <a:fillRect/>
          </a:stretch>
        </p:blipFill>
        <p:spPr>
          <a:xfrm>
            <a:off x="7396980" y="2106073"/>
            <a:ext cx="4421637" cy="2578284"/>
          </a:xfrm>
          <a:prstGeom prst="rect">
            <a:avLst/>
          </a:prstGeom>
          <a:ln w="6350">
            <a:solidFill>
              <a:schemeClr val="tx1"/>
            </a:solidFill>
          </a:ln>
        </p:spPr>
      </p:pic>
    </p:spTree>
    <p:extLst>
      <p:ext uri="{BB962C8B-B14F-4D97-AF65-F5344CB8AC3E}">
        <p14:creationId xmlns:p14="http://schemas.microsoft.com/office/powerpoint/2010/main" val="4871373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B1A1F8-AC5D-A37B-10E1-A130AAF3BE2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E682EE9-C61F-2F08-FB86-86F08F9387A1}"/>
              </a:ext>
            </a:extLst>
          </p:cNvPr>
          <p:cNvSpPr>
            <a:spLocks noGrp="1"/>
          </p:cNvSpPr>
          <p:nvPr>
            <p:ph type="title"/>
          </p:nvPr>
        </p:nvSpPr>
        <p:spPr>
          <a:xfrm>
            <a:off x="0" y="1"/>
            <a:ext cx="12192000" cy="586626"/>
          </a:xfrm>
          <a:solidFill>
            <a:schemeClr val="bg1">
              <a:lumMod val="85000"/>
            </a:schemeClr>
          </a:solidFill>
        </p:spPr>
        <p:txBody>
          <a:bodyPr>
            <a:normAutofit fontScale="90000"/>
          </a:bodyPr>
          <a:lstStyle/>
          <a:p>
            <a:r>
              <a:rPr kumimoji="1" lang="ja-JP" altLang="en-US" sz="3600"/>
              <a:t>研究リソーストラッキングシステム（</a:t>
            </a:r>
            <a:r>
              <a:rPr lang="ja-JP" altLang="en-US" sz="3600"/>
              <a:t>試験開発）</a:t>
            </a:r>
            <a:r>
              <a:rPr lang="en-US" altLang="ja-JP" sz="3600"/>
              <a:t>(4/4)</a:t>
            </a:r>
            <a:endParaRPr kumimoji="1" lang="ja-JP" altLang="en-US" sz="2000"/>
          </a:p>
        </p:txBody>
      </p:sp>
      <p:sp>
        <p:nvSpPr>
          <p:cNvPr id="3" name="テキスト ボックス 2">
            <a:extLst>
              <a:ext uri="{FF2B5EF4-FFF2-40B4-BE49-F238E27FC236}">
                <a16:creationId xmlns:a16="http://schemas.microsoft.com/office/drawing/2014/main" id="{597B2C90-9945-5BCA-322C-C64B0CC1B6A8}"/>
              </a:ext>
            </a:extLst>
          </p:cNvPr>
          <p:cNvSpPr txBox="1"/>
          <p:nvPr/>
        </p:nvSpPr>
        <p:spPr>
          <a:xfrm>
            <a:off x="-23814" y="586627"/>
            <a:ext cx="12192000" cy="3693319"/>
          </a:xfrm>
          <a:prstGeom prst="rect">
            <a:avLst/>
          </a:prstGeom>
          <a:noFill/>
        </p:spPr>
        <p:txBody>
          <a:bodyPr wrap="square" rtlCol="0">
            <a:spAutoFit/>
          </a:bodyPr>
          <a:lstStyle/>
          <a:p>
            <a:r>
              <a:rPr lang="ja-JP" altLang="en-US" b="1"/>
              <a:t>◾️位置付け</a:t>
            </a:r>
            <a:endParaRPr lang="en-US" altLang="ja-JP" b="1"/>
          </a:p>
          <a:p>
            <a:pPr marL="285750" indent="-285750">
              <a:buFont typeface="Arial" panose="020B0604020202020204" pitchFamily="34" charset="0"/>
              <a:buChar char="•"/>
            </a:pPr>
            <a:r>
              <a:rPr kumimoji="1" lang="en-US" altLang="ja-JP"/>
              <a:t>2026</a:t>
            </a:r>
            <a:r>
              <a:rPr kumimoji="1" lang="ja-JP" altLang="en-US"/>
              <a:t>年度開発（本番開発）に向け、より処理容易なデータでプレ開発を行う</a:t>
            </a:r>
            <a:endParaRPr kumimoji="1" lang="en-US" altLang="ja-JP"/>
          </a:p>
          <a:p>
            <a:pPr marL="285750" indent="-285750">
              <a:buFont typeface="Arial" panose="020B0604020202020204" pitchFamily="34" charset="0"/>
              <a:buChar char="•"/>
            </a:pPr>
            <a:r>
              <a:rPr lang="ja-JP" altLang="en-US"/>
              <a:t>英文処理に向けたテスト</a:t>
            </a:r>
            <a:endParaRPr kumimoji="1" lang="en-US" altLang="ja-JP"/>
          </a:p>
          <a:p>
            <a:endParaRPr kumimoji="1" lang="en-US" altLang="ja-JP"/>
          </a:p>
          <a:p>
            <a:r>
              <a:rPr lang="ja-JP" altLang="en-US" b="1"/>
              <a:t>◾️概要</a:t>
            </a:r>
            <a:endParaRPr lang="en-US" altLang="ja-JP" b="1"/>
          </a:p>
          <a:p>
            <a:pPr marL="285750" indent="-285750">
              <a:buFont typeface="Arial" panose="020B0604020202020204" pitchFamily="34" charset="0"/>
              <a:buChar char="•"/>
            </a:pPr>
            <a:r>
              <a:rPr lang="en-US" altLang="ja-JP"/>
              <a:t>PubmedCentral</a:t>
            </a:r>
            <a:r>
              <a:rPr lang="ja-JP" altLang="en-US"/>
              <a:t>を対象とする</a:t>
            </a:r>
            <a:endParaRPr lang="en-US" altLang="ja-JP"/>
          </a:p>
          <a:p>
            <a:pPr marL="742950" lvl="1" indent="-285750">
              <a:buFont typeface="Arial" panose="020B0604020202020204" pitchFamily="34" charset="0"/>
              <a:buChar char="•"/>
            </a:pPr>
            <a:r>
              <a:rPr lang="ja-JP" altLang="en-US"/>
              <a:t>すでに</a:t>
            </a:r>
            <a:r>
              <a:rPr lang="en-US" altLang="ja-JP"/>
              <a:t>XML</a:t>
            </a:r>
            <a:r>
              <a:rPr lang="ja-JP" altLang="en-US"/>
              <a:t>構造化されている</a:t>
            </a:r>
            <a:endParaRPr lang="en-US" altLang="ja-JP"/>
          </a:p>
          <a:p>
            <a:pPr marL="1200150" lvl="2" indent="-285750">
              <a:buFont typeface="Arial" panose="020B0604020202020204" pitchFamily="34" charset="0"/>
              <a:buChar char="•"/>
            </a:pPr>
            <a:r>
              <a:rPr lang="ja-JP" altLang="en-US"/>
              <a:t>著者、（代表者）所属機関がすでに整理されている</a:t>
            </a:r>
            <a:endParaRPr lang="en-US" altLang="ja-JP"/>
          </a:p>
          <a:p>
            <a:pPr marL="742950" lvl="1" indent="-285750">
              <a:buFont typeface="Arial" panose="020B0604020202020204" pitchFamily="34" charset="0"/>
              <a:buChar char="•"/>
            </a:pPr>
            <a:r>
              <a:rPr lang="ja-JP" altLang="en-US"/>
              <a:t>同目的で過去に解析されており、ほとんどの手順を把握済み</a:t>
            </a:r>
            <a:endParaRPr lang="en-US" altLang="ja-JP"/>
          </a:p>
          <a:p>
            <a:pPr marL="285750" indent="-285750">
              <a:buFont typeface="Arial" panose="020B0604020202020204" pitchFamily="34" charset="0"/>
              <a:buChar char="•"/>
            </a:pPr>
            <a:r>
              <a:rPr lang="ja-JP" altLang="en-US"/>
              <a:t>形態素解析およびクラス付与が新しい試み</a:t>
            </a:r>
            <a:endParaRPr lang="en-US" altLang="ja-JP"/>
          </a:p>
          <a:p>
            <a:pPr marL="742950" lvl="1" indent="-285750">
              <a:buFont typeface="Arial" panose="020B0604020202020204" pitchFamily="34" charset="0"/>
              <a:buChar char="•"/>
            </a:pPr>
            <a:r>
              <a:rPr lang="ja-JP" altLang="en-US"/>
              <a:t>もともとクラス付与の構想があり困難が予想されたが、近年の</a:t>
            </a:r>
            <a:r>
              <a:rPr lang="en-US" altLang="ja-JP"/>
              <a:t>AI</a:t>
            </a:r>
            <a:r>
              <a:rPr lang="ja-JP" altLang="en-US"/>
              <a:t>の発達により現実性が増加した</a:t>
            </a:r>
            <a:endParaRPr lang="en-US" altLang="ja-JP"/>
          </a:p>
          <a:p>
            <a:pPr marL="742950" lvl="1" indent="-285750">
              <a:buFont typeface="Arial" panose="020B0604020202020204" pitchFamily="34" charset="0"/>
              <a:buChar char="•"/>
            </a:pPr>
            <a:r>
              <a:rPr lang="ja-JP" altLang="en-US"/>
              <a:t>従来は「名前」と「クラス」のリストを用いて「名前」を検索していた</a:t>
            </a:r>
            <a:endParaRPr lang="en-US" altLang="ja-JP"/>
          </a:p>
          <a:p>
            <a:pPr marL="285750" indent="-285750">
              <a:buFont typeface="Arial" panose="020B0604020202020204" pitchFamily="34" charset="0"/>
              <a:buChar char="•"/>
            </a:pPr>
            <a:r>
              <a:rPr lang="ja-JP" altLang="en-US"/>
              <a:t>本番開発と並行して行う</a:t>
            </a:r>
            <a:endParaRPr lang="en-US" altLang="ja-JP"/>
          </a:p>
        </p:txBody>
      </p:sp>
    </p:spTree>
    <p:extLst>
      <p:ext uri="{BB962C8B-B14F-4D97-AF65-F5344CB8AC3E}">
        <p14:creationId xmlns:p14="http://schemas.microsoft.com/office/powerpoint/2010/main" val="2392995184"/>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77</TotalTime>
  <Words>721</Words>
  <Application>Microsoft Macintosh PowerPoint</Application>
  <PresentationFormat>ワイド画面</PresentationFormat>
  <Paragraphs>79</Paragraphs>
  <Slides>4</Slides>
  <Notes>0</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4</vt:i4>
      </vt:variant>
    </vt:vector>
  </HeadingPairs>
  <TitlesOfParts>
    <vt:vector size="8" baseType="lpstr">
      <vt:lpstr>游ゴシック</vt:lpstr>
      <vt:lpstr>游ゴシック Light</vt:lpstr>
      <vt:lpstr>Arial</vt:lpstr>
      <vt:lpstr>Office テーマ</vt:lpstr>
      <vt:lpstr>研究リソーストラッキングシステム(1/4)</vt:lpstr>
      <vt:lpstr>研究リソーストラッキングシステム（2026年度開発）(2/4)</vt:lpstr>
      <vt:lpstr>研究リソーストラッキングシステム（2026年度開発）(3/4)</vt:lpstr>
      <vt:lpstr>研究リソーストラッキングシステム（試験開発）(4/4)</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天野　晃</dc:creator>
  <cp:lastModifiedBy>天野　晃</cp:lastModifiedBy>
  <cp:revision>28</cp:revision>
  <dcterms:created xsi:type="dcterms:W3CDTF">2026-07-23T00:38:27Z</dcterms:created>
  <dcterms:modified xsi:type="dcterms:W3CDTF">2026-08-18T02:38:31Z</dcterms:modified>
</cp:coreProperties>
</file>